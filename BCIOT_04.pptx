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4" r:id="rId3"/>
    <p:sldId id="278" r:id="rId4"/>
    <p:sldId id="267" r:id="rId5"/>
    <p:sldId id="290" r:id="rId6"/>
    <p:sldId id="283" r:id="rId7"/>
    <p:sldId id="264" r:id="rId8"/>
    <p:sldId id="270" r:id="rId9"/>
    <p:sldId id="294" r:id="rId10"/>
    <p:sldId id="296" r:id="rId11"/>
    <p:sldId id="292" r:id="rId12"/>
    <p:sldId id="272" r:id="rId13"/>
    <p:sldId id="293" r:id="rId14"/>
    <p:sldId id="298" r:id="rId15"/>
    <p:sldId id="299" r:id="rId16"/>
    <p:sldId id="284" r:id="rId17"/>
    <p:sldId id="288" r:id="rId18"/>
    <p:sldId id="289" r:id="rId19"/>
    <p:sldId id="291" r:id="rId20"/>
    <p:sldId id="29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616B0-2B82-CA65-6648-81609E352A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45F6B5-503B-D338-80C3-76A5FFD5D3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194B40-9D16-835F-45DA-089147986A5F}"/>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5" name="Footer Placeholder 4">
            <a:extLst>
              <a:ext uri="{FF2B5EF4-FFF2-40B4-BE49-F238E27FC236}">
                <a16:creationId xmlns:a16="http://schemas.microsoft.com/office/drawing/2014/main" id="{8F2DDE49-EA5A-8CF4-E5AB-3451DC93B6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CFA8C4-1B56-D649-7842-4583B0E98D4F}"/>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1064974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81EC-0451-2F90-486C-5520348F73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9677E4-F68B-EB1E-5C89-E02E5AF781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793162-7B9D-F290-85E1-01DCC6CD87BF}"/>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5" name="Footer Placeholder 4">
            <a:extLst>
              <a:ext uri="{FF2B5EF4-FFF2-40B4-BE49-F238E27FC236}">
                <a16:creationId xmlns:a16="http://schemas.microsoft.com/office/drawing/2014/main" id="{CE0B8243-733F-6676-B137-76CD0A7A98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6C332E-9DB0-D933-1912-7F76FD049109}"/>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3035744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9434-49B3-18F2-3781-D523B33BA2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6CB640-E0F8-B7D4-A4D3-51DEDF75BE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7C3F83-2C33-2FAB-8AC9-085A7D1C65EE}"/>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5" name="Footer Placeholder 4">
            <a:extLst>
              <a:ext uri="{FF2B5EF4-FFF2-40B4-BE49-F238E27FC236}">
                <a16:creationId xmlns:a16="http://schemas.microsoft.com/office/drawing/2014/main" id="{D858D594-C0E0-281F-B1CE-372231C8A4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3D6EA9-73E7-DEBB-49B8-66EA50297952}"/>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1731353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548A-30E9-9295-648A-318EC173F8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B2EFC8-569E-E46F-E037-DB8FB6C65A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E0DDA0-C3DC-4AF4-85E6-CF289F6128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C94120-5D88-EA69-B1C1-A0AC466ADC08}"/>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6" name="Footer Placeholder 5">
            <a:extLst>
              <a:ext uri="{FF2B5EF4-FFF2-40B4-BE49-F238E27FC236}">
                <a16:creationId xmlns:a16="http://schemas.microsoft.com/office/drawing/2014/main" id="{0331D5D4-8F63-D993-815C-B1C52BBF91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02D0D7-8EE1-C1C5-EB91-752E08DA550D}"/>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2886535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6C185-37DC-986C-7489-72EFD8E8B7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BEE704-B8DA-3CBC-40D5-05758DAFA5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09E9D5-B904-BD47-16C7-C866D2407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701734-1416-7E29-3073-1A9E763499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05FDAE-7DFD-7863-E071-60498F082B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F6EFAA-7233-5C0E-9FDD-DDB85629D78B}"/>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8" name="Footer Placeholder 7">
            <a:extLst>
              <a:ext uri="{FF2B5EF4-FFF2-40B4-BE49-F238E27FC236}">
                <a16:creationId xmlns:a16="http://schemas.microsoft.com/office/drawing/2014/main" id="{CC1B42F2-620C-4578-549F-DFB685E52BB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6E454E-C8C4-5F7C-C407-FBB1445410D3}"/>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1789632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74175-6161-EE07-F92A-F89A4EDC1A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782001-DD83-D5AB-6379-60B25ED11766}"/>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4" name="Footer Placeholder 3">
            <a:extLst>
              <a:ext uri="{FF2B5EF4-FFF2-40B4-BE49-F238E27FC236}">
                <a16:creationId xmlns:a16="http://schemas.microsoft.com/office/drawing/2014/main" id="{56FC33C3-BC6C-7762-B3B4-DCA5661AFC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EBAD8FB-E48F-BD7F-701D-B7C63D964EA2}"/>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350350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79DFB-0B81-36F3-FB7C-3350FAC0A0EE}"/>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3" name="Footer Placeholder 2">
            <a:extLst>
              <a:ext uri="{FF2B5EF4-FFF2-40B4-BE49-F238E27FC236}">
                <a16:creationId xmlns:a16="http://schemas.microsoft.com/office/drawing/2014/main" id="{70D13FE2-AFFE-EF18-9C13-0000E4AD05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B30EA9-2C0D-6128-D2FF-6E40DA5826F9}"/>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736792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DC48-1896-88B7-A152-7CED041AF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9F85AC-0E5B-02E7-3B10-35C537B740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946408-06DA-D104-D585-7AD37C0A91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445877-2F3A-E3DD-F8EA-1F0684C12DD8}"/>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6" name="Footer Placeholder 5">
            <a:extLst>
              <a:ext uri="{FF2B5EF4-FFF2-40B4-BE49-F238E27FC236}">
                <a16:creationId xmlns:a16="http://schemas.microsoft.com/office/drawing/2014/main" id="{C07B36F7-EB7F-6658-3059-A7EF5F1CE0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9F1561-71CA-DB52-BB9E-A3CB523FEB31}"/>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146947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9C037-D441-0FD8-AAEF-58AFD73BE3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77BE9E-9AA3-EDE4-0286-BAAD5ABB84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86EE9B-F7EC-0043-EAF5-6BD5B36068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4C32AE-7EE1-46F2-96F6-ED0A53ACECD5}"/>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6" name="Footer Placeholder 5">
            <a:extLst>
              <a:ext uri="{FF2B5EF4-FFF2-40B4-BE49-F238E27FC236}">
                <a16:creationId xmlns:a16="http://schemas.microsoft.com/office/drawing/2014/main" id="{56D28188-8296-2F97-8326-110BBCD945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106E44-7AAA-3A72-5294-680DA50B005C}"/>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3277010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1BF94-00D4-49B0-B2A0-97E0924320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ECC01B-0139-0105-D095-09CC0E5139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FC4FE-BCBF-503F-14B8-27D90B2F2117}"/>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5" name="Footer Placeholder 4">
            <a:extLst>
              <a:ext uri="{FF2B5EF4-FFF2-40B4-BE49-F238E27FC236}">
                <a16:creationId xmlns:a16="http://schemas.microsoft.com/office/drawing/2014/main" id="{22B9B60E-A226-8497-8B19-C0057D9472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438018-E593-09E9-ADBF-E771CD0CD4D2}"/>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313043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265B08-3206-788F-A8BF-DB860ED99B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E9C2CC-B8B5-8C1E-8F5C-932973E541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E19AFD-C307-99B6-5EBE-D6CD783C18EA}"/>
              </a:ext>
            </a:extLst>
          </p:cNvPr>
          <p:cNvSpPr>
            <a:spLocks noGrp="1"/>
          </p:cNvSpPr>
          <p:nvPr>
            <p:ph type="dt" sz="half" idx="10"/>
          </p:nvPr>
        </p:nvSpPr>
        <p:spPr/>
        <p:txBody>
          <a:bodyPr/>
          <a:lstStyle/>
          <a:p>
            <a:fld id="{C23AA346-7F8F-4903-997F-2D3898EF27C2}" type="datetimeFigureOut">
              <a:rPr lang="en-IN" smtClean="0"/>
              <a:t>09-08-2024</a:t>
            </a:fld>
            <a:endParaRPr lang="en-IN"/>
          </a:p>
        </p:txBody>
      </p:sp>
      <p:sp>
        <p:nvSpPr>
          <p:cNvPr id="5" name="Footer Placeholder 4">
            <a:extLst>
              <a:ext uri="{FF2B5EF4-FFF2-40B4-BE49-F238E27FC236}">
                <a16:creationId xmlns:a16="http://schemas.microsoft.com/office/drawing/2014/main" id="{8ED4050C-8EC8-1CFA-0D0A-9E10A89E3B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AFE125-A6EF-98C3-A83E-CA8705B2477A}"/>
              </a:ext>
            </a:extLst>
          </p:cNvPr>
          <p:cNvSpPr>
            <a:spLocks noGrp="1"/>
          </p:cNvSpPr>
          <p:nvPr>
            <p:ph type="sldNum" sz="quarter" idx="12"/>
          </p:nvPr>
        </p:nvSpPr>
        <p:spPr/>
        <p:txBody>
          <a:bodyPr/>
          <a:lstStyle/>
          <a:p>
            <a:fld id="{9F933454-517D-487E-93A0-7F691A3634A7}" type="slidenum">
              <a:rPr lang="en-IN" smtClean="0"/>
              <a:t>‹#›</a:t>
            </a:fld>
            <a:endParaRPr lang="en-IN"/>
          </a:p>
        </p:txBody>
      </p:sp>
    </p:spTree>
    <p:extLst>
      <p:ext uri="{BB962C8B-B14F-4D97-AF65-F5344CB8AC3E}">
        <p14:creationId xmlns:p14="http://schemas.microsoft.com/office/powerpoint/2010/main" val="2331488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A2BC36-7775-8E12-EC1F-00E7439C8C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B5F473-187C-C722-8BFC-C12236AEE5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F056BF-7529-8A68-A38C-B8EEFCCA9E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3AA346-7F8F-4903-997F-2D3898EF27C2}" type="datetimeFigureOut">
              <a:rPr lang="en-IN" smtClean="0"/>
              <a:t>09-08-2024</a:t>
            </a:fld>
            <a:endParaRPr lang="en-IN"/>
          </a:p>
        </p:txBody>
      </p:sp>
      <p:sp>
        <p:nvSpPr>
          <p:cNvPr id="5" name="Footer Placeholder 4">
            <a:extLst>
              <a:ext uri="{FF2B5EF4-FFF2-40B4-BE49-F238E27FC236}">
                <a16:creationId xmlns:a16="http://schemas.microsoft.com/office/drawing/2014/main" id="{A7A7C7BC-F763-F8AD-E8FE-DBA38079AB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279364B-AEE6-D587-364F-07DFB89EFA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933454-517D-487E-93A0-7F691A3634A7}" type="slidenum">
              <a:rPr lang="en-IN" smtClean="0"/>
              <a:t>‹#›</a:t>
            </a:fld>
            <a:endParaRPr lang="en-IN"/>
          </a:p>
        </p:txBody>
      </p:sp>
    </p:spTree>
    <p:extLst>
      <p:ext uri="{BB962C8B-B14F-4D97-AF65-F5344CB8AC3E}">
        <p14:creationId xmlns:p14="http://schemas.microsoft.com/office/powerpoint/2010/main" val="3993912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3C064-A943-CA35-5C80-8ED179512632}"/>
              </a:ext>
            </a:extLst>
          </p:cNvPr>
          <p:cNvSpPr>
            <a:spLocks noGrp="1"/>
          </p:cNvSpPr>
          <p:nvPr>
            <p:ph type="ctrTitle"/>
          </p:nvPr>
        </p:nvSpPr>
        <p:spPr>
          <a:xfrm>
            <a:off x="1076129" y="394575"/>
            <a:ext cx="9710057" cy="2387600"/>
          </a:xfrm>
        </p:spPr>
        <p:txBody>
          <a:bodyPr>
            <a:normAutofit/>
          </a:bodyPr>
          <a:lstStyle/>
          <a:p>
            <a:r>
              <a:rPr lang="en-US" sz="4400">
                <a:latin typeface="Times New Roman" panose="02020603050405020304" pitchFamily="18" charset="0"/>
                <a:cs typeface="Times New Roman" panose="02020603050405020304" pitchFamily="18" charset="0"/>
              </a:rPr>
              <a:t>11</a:t>
            </a:r>
            <a:r>
              <a:rPr lang="en-US" sz="4400" baseline="30000">
                <a:latin typeface="Times New Roman" panose="02020603050405020304" pitchFamily="18" charset="0"/>
                <a:cs typeface="Times New Roman" panose="02020603050405020304" pitchFamily="18" charset="0"/>
              </a:rPr>
              <a:t>th</a:t>
            </a:r>
            <a:r>
              <a:rPr lang="en-US" sz="4400">
                <a:latin typeface="Times New Roman" panose="02020603050405020304" pitchFamily="18" charset="0"/>
                <a:cs typeface="Times New Roman" panose="02020603050405020304" pitchFamily="18" charset="0"/>
              </a:rPr>
              <a:t> International Conference on Frontiers of Intelligent Computing: Theory and Applications(FICTA-2023) </a:t>
            </a:r>
            <a:endParaRPr lang="en-IN" sz="4400" dirty="0"/>
          </a:p>
        </p:txBody>
      </p:sp>
      <p:sp>
        <p:nvSpPr>
          <p:cNvPr id="3" name="Subtitle 2">
            <a:extLst>
              <a:ext uri="{FF2B5EF4-FFF2-40B4-BE49-F238E27FC236}">
                <a16:creationId xmlns:a16="http://schemas.microsoft.com/office/drawing/2014/main" id="{CF17A910-04B2-5A47-7A35-EFEB7A3580D9}"/>
              </a:ext>
            </a:extLst>
          </p:cNvPr>
          <p:cNvSpPr>
            <a:spLocks noGrp="1"/>
          </p:cNvSpPr>
          <p:nvPr>
            <p:ph type="subTitle" idx="1"/>
          </p:nvPr>
        </p:nvSpPr>
        <p:spPr>
          <a:xfrm>
            <a:off x="1492898" y="3429000"/>
            <a:ext cx="9573207" cy="2387599"/>
          </a:xfrm>
        </p:spPr>
        <p:txBody>
          <a:bodyPr>
            <a:normAutofit fontScale="92500" lnSpcReduction="20000"/>
          </a:bodyPr>
          <a:lstStyle/>
          <a:p>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Attention Based Deep Network Model using BERT for Sarcasm Classification</a:t>
            </a:r>
          </a:p>
          <a:p>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(ADN-BERT)</a:t>
            </a:r>
          </a:p>
          <a:p>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By- Pallavi Mishra, Omisha Sharma, Sandeep Kumar Panda</a:t>
            </a:r>
          </a:p>
          <a:p>
            <a:r>
              <a:rPr lang="en-IN" sz="2400" b="0" i="0" dirty="0">
                <a:solidFill>
                  <a:schemeClr val="bg2">
                    <a:lumMod val="10000"/>
                  </a:schemeClr>
                </a:solidFill>
                <a:effectLst/>
                <a:latin typeface="Times New Roman" panose="02020603050405020304" pitchFamily="18" charset="0"/>
                <a:cs typeface="Times New Roman" panose="02020603050405020304" pitchFamily="18" charset="0"/>
              </a:rPr>
              <a:t> Date: 12th April 2023</a:t>
            </a:r>
            <a:endParaRPr lang="en-US" sz="2400" baseline="30000" dirty="0">
              <a:solidFill>
                <a:schemeClr val="bg2">
                  <a:lumMod val="1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07468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A7739-D1D1-449C-BE0B-ABFE0E441421}"/>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CONTENTS</a:t>
            </a:r>
            <a:endParaRPr lang="en-IN" sz="4000" dirty="0"/>
          </a:p>
        </p:txBody>
      </p:sp>
      <p:sp>
        <p:nvSpPr>
          <p:cNvPr id="3" name="Content Placeholder 2">
            <a:extLst>
              <a:ext uri="{FF2B5EF4-FFF2-40B4-BE49-F238E27FC236}">
                <a16:creationId xmlns:a16="http://schemas.microsoft.com/office/drawing/2014/main" id="{AAF7D61F-0A42-98EB-F6E4-935C177D1D78}"/>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Sarcasm: Introduction</a:t>
            </a:r>
          </a:p>
          <a:p>
            <a:pPr algn="just"/>
            <a:r>
              <a:rPr lang="en-IN" sz="2400" dirty="0">
                <a:latin typeface="Times New Roman" panose="02020603050405020304" pitchFamily="18" charset="0"/>
                <a:cs typeface="Times New Roman" panose="02020603050405020304" pitchFamily="18" charset="0"/>
              </a:rPr>
              <a:t>Importance of Sarcasm Classification</a:t>
            </a:r>
          </a:p>
          <a:p>
            <a:pPr algn="just"/>
            <a:r>
              <a:rPr lang="en-IN" sz="2400" dirty="0">
                <a:latin typeface="Times New Roman" panose="02020603050405020304" pitchFamily="18" charset="0"/>
                <a:cs typeface="Times New Roman" panose="02020603050405020304" pitchFamily="18" charset="0"/>
              </a:rPr>
              <a:t>Challenges of Sarcasm detection</a:t>
            </a:r>
          </a:p>
          <a:p>
            <a:pPr algn="just"/>
            <a:r>
              <a:rPr lang="en-IN" sz="2400" dirty="0">
                <a:latin typeface="Times New Roman" panose="02020603050405020304" pitchFamily="18" charset="0"/>
                <a:cs typeface="Times New Roman" panose="02020603050405020304" pitchFamily="18" charset="0"/>
              </a:rPr>
              <a:t>Related Works</a:t>
            </a:r>
          </a:p>
          <a:p>
            <a:pPr algn="just"/>
            <a:r>
              <a:rPr lang="en-IN" sz="2400" dirty="0">
                <a:latin typeface="Times New Roman" panose="02020603050405020304" pitchFamily="18" charset="0"/>
                <a:cs typeface="Times New Roman" panose="02020603050405020304" pitchFamily="18" charset="0"/>
              </a:rPr>
              <a:t>Dataset Information</a:t>
            </a:r>
          </a:p>
          <a:p>
            <a:pPr algn="just"/>
            <a:r>
              <a:rPr lang="en-IN" sz="2400" dirty="0">
                <a:latin typeface="Times New Roman" panose="02020603050405020304" pitchFamily="18" charset="0"/>
                <a:cs typeface="Times New Roman" panose="02020603050405020304" pitchFamily="18" charset="0"/>
              </a:rPr>
              <a:t>Proposed Methodology</a:t>
            </a:r>
          </a:p>
          <a:p>
            <a:pPr algn="just"/>
            <a:r>
              <a:rPr lang="en-IN" sz="2400" dirty="0">
                <a:latin typeface="Times New Roman" panose="02020603050405020304" pitchFamily="18" charset="0"/>
                <a:cs typeface="Times New Roman" panose="02020603050405020304" pitchFamily="18" charset="0"/>
              </a:rPr>
              <a:t>Results</a:t>
            </a:r>
          </a:p>
          <a:p>
            <a:pPr algn="just"/>
            <a:r>
              <a:rPr lang="en-IN" sz="2400" dirty="0">
                <a:latin typeface="Times New Roman" panose="02020603050405020304" pitchFamily="18" charset="0"/>
                <a:cs typeface="Times New Roman" panose="02020603050405020304" pitchFamily="18" charset="0"/>
              </a:rPr>
              <a:t>Conclusion and Future Directions</a:t>
            </a:r>
          </a:p>
          <a:p>
            <a:pPr algn="just"/>
            <a:r>
              <a:rPr lang="en-IN" sz="2400" dirty="0">
                <a:latin typeface="Times New Roman" panose="02020603050405020304" pitchFamily="18" charset="0"/>
                <a:cs typeface="Times New Roman" panose="02020603050405020304" pitchFamily="18" charset="0"/>
              </a:rPr>
              <a:t>References</a:t>
            </a:r>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56630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F5B3B-C297-5470-0320-167252DA0E1E}"/>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Sarcasm</a:t>
            </a:r>
          </a:p>
        </p:txBody>
      </p:sp>
      <p:sp>
        <p:nvSpPr>
          <p:cNvPr id="3" name="Content Placeholder 2">
            <a:extLst>
              <a:ext uri="{FF2B5EF4-FFF2-40B4-BE49-F238E27FC236}">
                <a16:creationId xmlns:a16="http://schemas.microsoft.com/office/drawing/2014/main" id="{A4D8B6CF-E3C8-4888-96AC-FDB454BDB3E1}"/>
              </a:ext>
            </a:extLst>
          </p:cNvPr>
          <p:cNvSpPr>
            <a:spLocks noGrp="1"/>
          </p:cNvSpPr>
          <p:nvPr>
            <p:ph idx="1"/>
          </p:nvPr>
        </p:nvSpPr>
        <p:spPr/>
        <p:txBody>
          <a:bodyPr>
            <a:normAutofit/>
          </a:bodyPr>
          <a:lstStyle/>
          <a:p>
            <a:pPr algn="just"/>
            <a:r>
              <a:rPr lang="en-US" sz="2400" b="0" i="0" dirty="0">
                <a:effectLst/>
                <a:latin typeface="Times New Roman" panose="02020603050405020304" pitchFamily="18" charset="0"/>
                <a:cs typeface="Times New Roman" panose="02020603050405020304" pitchFamily="18" charset="0"/>
              </a:rPr>
              <a:t>Sarcasm is a form of language that uses irony to convey the opposite meaning of what is being said.</a:t>
            </a:r>
          </a:p>
          <a:p>
            <a:pPr algn="just"/>
            <a:r>
              <a:rPr lang="en-US" sz="2400" dirty="0">
                <a:latin typeface="Times New Roman" panose="02020603050405020304" pitchFamily="18" charset="0"/>
                <a:cs typeface="Times New Roman" panose="02020603050405020304" pitchFamily="18" charset="0"/>
              </a:rPr>
              <a:t>T</a:t>
            </a:r>
            <a:r>
              <a:rPr lang="en-US" sz="2400" b="0" i="0" dirty="0">
                <a:effectLst/>
                <a:latin typeface="Times New Roman" panose="02020603050405020304" pitchFamily="18" charset="0"/>
                <a:cs typeface="Times New Roman" panose="02020603050405020304" pitchFamily="18" charset="0"/>
              </a:rPr>
              <a:t>his meaning is conveyed through subtle cues such as tone of voice, facial expression and context behind the statement.</a:t>
            </a:r>
          </a:p>
          <a:p>
            <a:pPr algn="just"/>
            <a:r>
              <a:rPr lang="en-IN" sz="2400" b="0" i="0" dirty="0">
                <a:latin typeface="Times New Roman" panose="02020603050405020304" pitchFamily="18" charset="0"/>
                <a:cs typeface="Times New Roman" panose="02020603050405020304" pitchFamily="18" charset="0"/>
              </a:rPr>
              <a:t>For example: </a:t>
            </a:r>
            <a:r>
              <a:rPr lang="en-US" sz="2400" b="0" i="0" dirty="0">
                <a:effectLst/>
                <a:latin typeface="Times New Roman" panose="02020603050405020304" pitchFamily="18" charset="0"/>
                <a:cs typeface="Times New Roman" panose="02020603050405020304" pitchFamily="18" charset="0"/>
              </a:rPr>
              <a:t>“Oh, I just </a:t>
            </a:r>
            <a:r>
              <a:rPr lang="en-US" sz="2400" b="0" i="0" dirty="0">
                <a:solidFill>
                  <a:srgbClr val="FF0000"/>
                </a:solidFill>
                <a:effectLst/>
                <a:latin typeface="Times New Roman" panose="02020603050405020304" pitchFamily="18" charset="0"/>
                <a:cs typeface="Times New Roman" panose="02020603050405020304" pitchFamily="18" charset="0"/>
              </a:rPr>
              <a:t>love </a:t>
            </a:r>
            <a:r>
              <a:rPr lang="en-US" sz="2400" b="0" i="0" dirty="0">
                <a:effectLst/>
                <a:latin typeface="Times New Roman" panose="02020603050405020304" pitchFamily="18" charset="0"/>
                <a:cs typeface="Times New Roman" panose="02020603050405020304" pitchFamily="18" charset="0"/>
              </a:rPr>
              <a:t>getting </a:t>
            </a:r>
            <a:r>
              <a:rPr lang="en-US" sz="2400" b="0" i="0" dirty="0">
                <a:solidFill>
                  <a:srgbClr val="FF0000"/>
                </a:solidFill>
                <a:effectLst/>
                <a:latin typeface="Times New Roman" panose="02020603050405020304" pitchFamily="18" charset="0"/>
                <a:cs typeface="Times New Roman" panose="02020603050405020304" pitchFamily="18" charset="0"/>
              </a:rPr>
              <a:t>stuck</a:t>
            </a:r>
            <a:r>
              <a:rPr lang="en-US" sz="2400" b="0" i="0" dirty="0">
                <a:effectLst/>
                <a:latin typeface="Times New Roman" panose="02020603050405020304" pitchFamily="18" charset="0"/>
                <a:cs typeface="Times New Roman" panose="02020603050405020304" pitchFamily="18" charset="0"/>
              </a:rPr>
              <a:t> in </a:t>
            </a:r>
            <a:r>
              <a:rPr lang="en-US" sz="2400" b="0" i="0" dirty="0">
                <a:solidFill>
                  <a:srgbClr val="FF0000"/>
                </a:solidFill>
                <a:effectLst/>
                <a:latin typeface="Times New Roman" panose="02020603050405020304" pitchFamily="18" charset="0"/>
                <a:cs typeface="Times New Roman" panose="02020603050405020304" pitchFamily="18" charset="0"/>
              </a:rPr>
              <a:t>traffic</a:t>
            </a:r>
            <a:r>
              <a:rPr lang="en-US" sz="2400" b="0" i="0" dirty="0">
                <a:effectLst/>
                <a:latin typeface="Times New Roman" panose="02020603050405020304" pitchFamily="18" charset="0"/>
                <a:cs typeface="Times New Roman" panose="02020603050405020304" pitchFamily="18" charset="0"/>
              </a:rPr>
              <a:t>”</a:t>
            </a:r>
            <a:endParaRPr lang="en-IN" sz="2400" dirty="0">
              <a:effectLst/>
              <a:latin typeface="Times New Roman" panose="02020603050405020304" pitchFamily="18" charset="0"/>
              <a:cs typeface="Times New Roman" panose="02020603050405020304" pitchFamily="18" charset="0"/>
            </a:endParaRPr>
          </a:p>
          <a:p>
            <a:pPr marL="0" indent="0" algn="just">
              <a:buNone/>
            </a:pPr>
            <a:r>
              <a:rPr lang="en-IN" sz="2400" b="0" i="0" dirty="0">
                <a:latin typeface="Times New Roman" panose="02020603050405020304" pitchFamily="18" charset="0"/>
                <a:cs typeface="Times New Roman" panose="02020603050405020304" pitchFamily="18" charset="0"/>
              </a:rPr>
              <a:t>(</a:t>
            </a:r>
            <a:r>
              <a:rPr lang="en-US" sz="2400" b="0" i="0" dirty="0">
                <a:effectLst/>
                <a:latin typeface="Times New Roman" panose="02020603050405020304" pitchFamily="18" charset="0"/>
                <a:cs typeface="Times New Roman" panose="02020603050405020304" pitchFamily="18" charset="0"/>
              </a:rPr>
              <a:t>the surface meaning is that the person enjoys being in traffic, which is obviously not true. However, the tone and context suggest that the person is being sarcastic, and the underlying or intended meaning is actually the opposite.)</a:t>
            </a:r>
            <a:endParaRPr lang="en-IN" sz="2400" dirty="0">
              <a:latin typeface="Times New Roman" panose="02020603050405020304" pitchFamily="18" charset="0"/>
              <a:cs typeface="Times New Roman" panose="02020603050405020304" pitchFamily="18" charset="0"/>
            </a:endParaRPr>
          </a:p>
          <a:p>
            <a:pPr algn="just"/>
            <a:endParaRPr lang="en-US" b="0" i="0" dirty="0">
              <a:effectLst/>
              <a:latin typeface="Times New Roman" panose="02020603050405020304" pitchFamily="18" charset="0"/>
              <a:cs typeface="Times New Roman" panose="02020603050405020304" pitchFamily="18" charset="0"/>
            </a:endParaRPr>
          </a:p>
          <a:p>
            <a:pPr algn="just"/>
            <a:endParaRPr lang="en-US" b="0" i="0" dirty="0">
              <a:effectLst/>
              <a:latin typeface="Times New Roman" panose="02020603050405020304" pitchFamily="18" charset="0"/>
              <a:cs typeface="Times New Roman" panose="02020603050405020304" pitchFamily="18" charset="0"/>
            </a:endParaRPr>
          </a:p>
          <a:p>
            <a:endParaRPr lang="en-US" b="0" i="0" dirty="0">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849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31CD-73DF-1BC3-18CA-BA8C7B6F4DD2}"/>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Importance of Sarcasm Classification in News Headlines</a:t>
            </a:r>
          </a:p>
        </p:txBody>
      </p:sp>
      <p:sp>
        <p:nvSpPr>
          <p:cNvPr id="3" name="Content Placeholder 2">
            <a:extLst>
              <a:ext uri="{FF2B5EF4-FFF2-40B4-BE49-F238E27FC236}">
                <a16:creationId xmlns:a16="http://schemas.microsoft.com/office/drawing/2014/main" id="{D0D9BFCB-41C7-7978-616A-262403911AAB}"/>
              </a:ext>
            </a:extLst>
          </p:cNvPr>
          <p:cNvSpPr>
            <a:spLocks noGrp="1"/>
          </p:cNvSpPr>
          <p:nvPr>
            <p:ph idx="1"/>
          </p:nvPr>
        </p:nvSpPr>
        <p:spPr>
          <a:xfrm>
            <a:off x="698240" y="1690688"/>
            <a:ext cx="10881049" cy="4351338"/>
          </a:xfrm>
        </p:spPr>
        <p:txBody>
          <a:bodyPr>
            <a:normAutofit/>
          </a:bodyPr>
          <a:lstStyle/>
          <a:p>
            <a:pPr algn="just"/>
            <a:endParaRPr lang="en-US" dirty="0">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In news headlines, sarcasm can be used to highlight absurdity or criticize an action or statement.</a:t>
            </a:r>
          </a:p>
          <a:p>
            <a:pPr algn="just"/>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wrong interpretation of the sarcastic news headlines on sensitive issues; especially related with global, political, social, economical, regional, social media issues may lead to serious consequences.</a:t>
            </a:r>
          </a:p>
          <a:p>
            <a:pPr algn="just"/>
            <a:r>
              <a:rPr lang="en-US" sz="2400" dirty="0">
                <a:latin typeface="Times New Roman" panose="02020603050405020304" pitchFamily="18" charset="0"/>
                <a:cs typeface="Times New Roman" panose="02020603050405020304" pitchFamily="18" charset="0"/>
              </a:rPr>
              <a:t>In the context of news headlines, sarcasm classification can provide valuable insights into the attitudes and opinions of news sources and their audiences.</a:t>
            </a:r>
          </a:p>
          <a:p>
            <a:pPr algn="just"/>
            <a:r>
              <a:rPr lang="en-US" sz="2400" dirty="0">
                <a:latin typeface="Times New Roman" panose="02020603050405020304" pitchFamily="18" charset="0"/>
                <a:cs typeface="Times New Roman" panose="02020603050405020304" pitchFamily="18" charset="0"/>
              </a:rPr>
              <a:t>I</a:t>
            </a:r>
            <a:r>
              <a:rPr lang="en-US" sz="2400" b="0" i="0" dirty="0">
                <a:effectLst/>
                <a:latin typeface="Times New Roman" panose="02020603050405020304" pitchFamily="18" charset="0"/>
                <a:cs typeface="Times New Roman" panose="02020603050405020304" pitchFamily="18" charset="0"/>
              </a:rPr>
              <a:t>t can help prevent misinterpretation of the intended message and improve the credibility of news reporting.</a:t>
            </a:r>
          </a:p>
          <a:p>
            <a:pPr marL="0" indent="0" algn="just">
              <a:buNone/>
            </a:pPr>
            <a:endParaRPr lang="en-US" dirty="0"/>
          </a:p>
          <a:p>
            <a:pPr marL="0" indent="0" algn="just">
              <a:buNone/>
            </a:pPr>
            <a:endParaRPr lang="en-US"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322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63FE-D361-6980-7999-F1887A408B8C}"/>
              </a:ext>
            </a:extLst>
          </p:cNvPr>
          <p:cNvSpPr>
            <a:spLocks noGrp="1"/>
          </p:cNvSpPr>
          <p:nvPr>
            <p:ph type="title"/>
          </p:nvPr>
        </p:nvSpPr>
        <p:spPr>
          <a:xfrm>
            <a:off x="292360" y="103868"/>
            <a:ext cx="11607280" cy="1325563"/>
          </a:xfrm>
        </p:spPr>
        <p:txBody>
          <a:bodyPr>
            <a:normAutofit/>
          </a:bodyPr>
          <a:lstStyle/>
          <a:p>
            <a:r>
              <a:rPr lang="en-IN" sz="4000" dirty="0">
                <a:latin typeface="Times New Roman" panose="02020603050405020304" pitchFamily="18" charset="0"/>
                <a:cs typeface="Times New Roman" panose="02020603050405020304" pitchFamily="18" charset="0"/>
              </a:rPr>
              <a:t>Challenges of Sarcasm detection and Classification task </a:t>
            </a:r>
          </a:p>
        </p:txBody>
      </p:sp>
      <p:sp>
        <p:nvSpPr>
          <p:cNvPr id="3" name="Content Placeholder 2">
            <a:extLst>
              <a:ext uri="{FF2B5EF4-FFF2-40B4-BE49-F238E27FC236}">
                <a16:creationId xmlns:a16="http://schemas.microsoft.com/office/drawing/2014/main" id="{E9872529-F80C-6D82-EA59-029ECA4747A1}"/>
              </a:ext>
            </a:extLst>
          </p:cNvPr>
          <p:cNvSpPr>
            <a:spLocks noGrp="1"/>
          </p:cNvSpPr>
          <p:nvPr>
            <p:ph idx="1"/>
          </p:nvPr>
        </p:nvSpPr>
        <p:spPr/>
        <p:txBody>
          <a:bodyPr/>
          <a:lstStyle/>
          <a:p>
            <a:pPr algn="just"/>
            <a:r>
              <a:rPr lang="en-US" sz="2400" b="0" i="0" dirty="0">
                <a:effectLst/>
                <a:latin typeface="Times New Roman" panose="02020603050405020304" pitchFamily="18" charset="0"/>
                <a:cs typeface="Times New Roman" panose="02020603050405020304" pitchFamily="18" charset="0"/>
              </a:rPr>
              <a:t>Sarcasm often relies on tone, context, and nonverbal cues, which can be difficult to detect in written text alone. </a:t>
            </a:r>
          </a:p>
          <a:p>
            <a:pPr algn="just"/>
            <a:r>
              <a:rPr lang="en-US" sz="2400" dirty="0">
                <a:latin typeface="Times New Roman" panose="02020603050405020304" pitchFamily="18" charset="0"/>
                <a:cs typeface="Times New Roman" panose="02020603050405020304" pitchFamily="18" charset="0"/>
              </a:rPr>
              <a:t>T</a:t>
            </a:r>
            <a:r>
              <a:rPr lang="en-US" sz="2400" b="0" i="0" dirty="0">
                <a:effectLst/>
                <a:latin typeface="Times New Roman" panose="02020603050405020304" pitchFamily="18" charset="0"/>
                <a:cs typeface="Times New Roman" panose="02020603050405020304" pitchFamily="18" charset="0"/>
              </a:rPr>
              <a:t>he use of irony, exaggeration, or understatement, which further complicates the task of identifying it.</a:t>
            </a:r>
          </a:p>
          <a:p>
            <a:pPr algn="just"/>
            <a:r>
              <a:rPr lang="en-US" sz="2400" dirty="0">
                <a:latin typeface="Times New Roman" panose="02020603050405020304" pitchFamily="18" charset="0"/>
                <a:cs typeface="Times New Roman" panose="02020603050405020304" pitchFamily="18" charset="0"/>
              </a:rPr>
              <a:t>It is a challenging task for a machine to understand the context and tone behind the statement of a speaker.</a:t>
            </a:r>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As a result, developing robust and context-based models for sarcasm detection remains an ongoing challenge in natural language processing.</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buNone/>
            </a:pPr>
            <a:endParaRPr lang="en-US" b="0" i="0" dirty="0">
              <a:solidFill>
                <a:srgbClr val="374151"/>
              </a:solidFill>
              <a:effectLst/>
              <a:latin typeface="Söhne"/>
            </a:endParaRPr>
          </a:p>
          <a:p>
            <a:endParaRPr lang="en-IN" dirty="0"/>
          </a:p>
        </p:txBody>
      </p:sp>
    </p:spTree>
    <p:extLst>
      <p:ext uri="{BB962C8B-B14F-4D97-AF65-F5344CB8AC3E}">
        <p14:creationId xmlns:p14="http://schemas.microsoft.com/office/powerpoint/2010/main" val="132623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D51CA-4EED-A7F8-36DB-0D449699834F}"/>
              </a:ext>
            </a:extLst>
          </p:cNvPr>
          <p:cNvSpPr>
            <a:spLocks noGrp="1"/>
          </p:cNvSpPr>
          <p:nvPr>
            <p:ph type="title"/>
          </p:nvPr>
        </p:nvSpPr>
        <p:spPr>
          <a:xfrm>
            <a:off x="472222" y="139958"/>
            <a:ext cx="10515600" cy="567935"/>
          </a:xfrm>
        </p:spPr>
        <p:txBody>
          <a:bodyPr>
            <a:normAutofit fontScale="90000"/>
          </a:bodyPr>
          <a:lstStyle/>
          <a:p>
            <a:r>
              <a:rPr lang="en-IN" dirty="0">
                <a:latin typeface="Times New Roman" panose="02020603050405020304" pitchFamily="18" charset="0"/>
                <a:cs typeface="Times New Roman" panose="02020603050405020304" pitchFamily="18" charset="0"/>
              </a:rPr>
              <a:t>Related Works on News Headlines Dataset </a:t>
            </a:r>
          </a:p>
        </p:txBody>
      </p:sp>
      <p:graphicFrame>
        <p:nvGraphicFramePr>
          <p:cNvPr id="4" name="Content Placeholder 3">
            <a:extLst>
              <a:ext uri="{FF2B5EF4-FFF2-40B4-BE49-F238E27FC236}">
                <a16:creationId xmlns:a16="http://schemas.microsoft.com/office/drawing/2014/main" id="{220DF6F9-5862-E015-C0FB-FAEC02129CB0}"/>
              </a:ext>
            </a:extLst>
          </p:cNvPr>
          <p:cNvGraphicFramePr>
            <a:graphicFrameLocks/>
          </p:cNvGraphicFramePr>
          <p:nvPr>
            <p:extLst>
              <p:ext uri="{D42A27DB-BD31-4B8C-83A1-F6EECF244321}">
                <p14:modId xmlns:p14="http://schemas.microsoft.com/office/powerpoint/2010/main" val="186378944"/>
              </p:ext>
            </p:extLst>
          </p:nvPr>
        </p:nvGraphicFramePr>
        <p:xfrm>
          <a:off x="1017565" y="1034998"/>
          <a:ext cx="9970257" cy="5683044"/>
        </p:xfrm>
        <a:graphic>
          <a:graphicData uri="http://schemas.openxmlformats.org/drawingml/2006/table">
            <a:tbl>
              <a:tblPr firstRow="1" firstCol="1" bandRow="1">
                <a:tableStyleId>{5C22544A-7EE6-4342-B048-85BDC9FD1C3A}</a:tableStyleId>
              </a:tblPr>
              <a:tblGrid>
                <a:gridCol w="1779532">
                  <a:extLst>
                    <a:ext uri="{9D8B030D-6E8A-4147-A177-3AD203B41FA5}">
                      <a16:colId xmlns:a16="http://schemas.microsoft.com/office/drawing/2014/main" val="362993015"/>
                    </a:ext>
                  </a:extLst>
                </a:gridCol>
                <a:gridCol w="6504037">
                  <a:extLst>
                    <a:ext uri="{9D8B030D-6E8A-4147-A177-3AD203B41FA5}">
                      <a16:colId xmlns:a16="http://schemas.microsoft.com/office/drawing/2014/main" val="2679540926"/>
                    </a:ext>
                  </a:extLst>
                </a:gridCol>
                <a:gridCol w="1686688">
                  <a:extLst>
                    <a:ext uri="{9D8B030D-6E8A-4147-A177-3AD203B41FA5}">
                      <a16:colId xmlns:a16="http://schemas.microsoft.com/office/drawing/2014/main" val="969367694"/>
                    </a:ext>
                  </a:extLst>
                </a:gridCol>
              </a:tblGrid>
              <a:tr h="332383">
                <a:tc>
                  <a:txBody>
                    <a:bodyPr/>
                    <a:lstStyle/>
                    <a:p>
                      <a:pPr indent="144145" algn="ctr"/>
                      <a:r>
                        <a:rPr lang="en-US" sz="1400" dirty="0">
                          <a:effectLst/>
                          <a:latin typeface="Times New Roman" panose="02020603050405020304" pitchFamily="18" charset="0"/>
                          <a:cs typeface="Times New Roman" panose="02020603050405020304" pitchFamily="18" charset="0"/>
                        </a:rPr>
                        <a:t>Work</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ctr"/>
                      <a:r>
                        <a:rPr lang="en-US" sz="1400">
                          <a:effectLst/>
                          <a:latin typeface="Times New Roman" panose="02020603050405020304" pitchFamily="18" charset="0"/>
                          <a:cs typeface="Times New Roman" panose="02020603050405020304" pitchFamily="18" charset="0"/>
                        </a:rPr>
                        <a:t>Technique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ctr"/>
                      <a:r>
                        <a:rPr lang="en-US" sz="1400">
                          <a:effectLst/>
                          <a:latin typeface="Times New Roman" panose="02020603050405020304" pitchFamily="18" charset="0"/>
                          <a:cs typeface="Times New Roman" panose="02020603050405020304" pitchFamily="18" charset="0"/>
                        </a:rPr>
                        <a:t>Results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405414323"/>
                  </a:ext>
                </a:extLst>
              </a:tr>
              <a:tr h="332383">
                <a:tc>
                  <a:txBody>
                    <a:bodyPr/>
                    <a:lstStyle/>
                    <a:p>
                      <a:pPr indent="144145" algn="just"/>
                      <a:r>
                        <a:rPr lang="en-US" sz="1400" dirty="0">
                          <a:effectLst/>
                          <a:latin typeface="Times New Roman" panose="02020603050405020304" pitchFamily="18" charset="0"/>
                          <a:cs typeface="Times New Roman" panose="02020603050405020304" pitchFamily="18" charset="0"/>
                        </a:rPr>
                        <a:t>Bharti et al.[1]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dirty="0">
                          <a:effectLst/>
                          <a:latin typeface="Times New Roman" panose="02020603050405020304" pitchFamily="18" charset="0"/>
                          <a:cs typeface="Times New Roman" panose="02020603050405020304" pitchFamily="18" charset="0"/>
                        </a:rPr>
                        <a:t>Implemented Voted classification  using ensembled machine learning classifiers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86.4% 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1761615765"/>
                  </a:ext>
                </a:extLst>
              </a:tr>
              <a:tr h="332383">
                <a:tc>
                  <a:txBody>
                    <a:bodyPr/>
                    <a:lstStyle/>
                    <a:p>
                      <a:pPr indent="144145" algn="just"/>
                      <a:r>
                        <a:rPr lang="en-US" sz="1400">
                          <a:effectLst/>
                          <a:latin typeface="Times New Roman" panose="02020603050405020304" pitchFamily="18" charset="0"/>
                          <a:cs typeface="Times New Roman" panose="02020603050405020304" pitchFamily="18" charset="0"/>
                        </a:rPr>
                        <a:t>Misra et al.[2]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Bi-LSTM+ Attention+ CNN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89.7% 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3986425468"/>
                  </a:ext>
                </a:extLst>
              </a:tr>
              <a:tr h="539023">
                <a:tc>
                  <a:txBody>
                    <a:bodyPr/>
                    <a:lstStyle/>
                    <a:p>
                      <a:pPr indent="144145" algn="just"/>
                      <a:r>
                        <a:rPr lang="en-US" sz="1400" dirty="0">
                          <a:effectLst/>
                          <a:latin typeface="Times New Roman" panose="02020603050405020304" pitchFamily="18" charset="0"/>
                          <a:cs typeface="Times New Roman" panose="02020603050405020304" pitchFamily="18" charset="0"/>
                        </a:rPr>
                        <a:t>Nayak et al.[3]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l"/>
                      <a:r>
                        <a:rPr lang="en-IN" sz="1400" dirty="0">
                          <a:effectLst/>
                          <a:latin typeface="Times New Roman" panose="02020603050405020304" pitchFamily="18" charset="0"/>
                          <a:cs typeface="Times New Roman" panose="02020603050405020304" pitchFamily="18" charset="0"/>
                        </a:rPr>
                        <a:t>compared multiple combinations of word embedding techniques and supervised classification techniques for sarcasm classification task</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89.5% 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873870617"/>
                  </a:ext>
                </a:extLst>
              </a:tr>
              <a:tr h="332383">
                <a:tc>
                  <a:txBody>
                    <a:bodyPr/>
                    <a:lstStyle/>
                    <a:p>
                      <a:pPr indent="144145" algn="just"/>
                      <a:r>
                        <a:rPr lang="en-US" sz="1400">
                          <a:effectLst/>
                          <a:latin typeface="Times New Roman" panose="02020603050405020304" pitchFamily="18" charset="0"/>
                          <a:cs typeface="Times New Roman" panose="02020603050405020304" pitchFamily="18" charset="0"/>
                        </a:rPr>
                        <a:t>Sharma et al.[4]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USE + BERT + LSTMAuto-Encoder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90.8% 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2296856884"/>
                  </a:ext>
                </a:extLst>
              </a:tr>
              <a:tr h="539023">
                <a:tc>
                  <a:txBody>
                    <a:bodyPr/>
                    <a:lstStyle/>
                    <a:p>
                      <a:pPr indent="144145" algn="just"/>
                      <a:r>
                        <a:rPr lang="en-US" sz="1400">
                          <a:effectLst/>
                          <a:latin typeface="Times New Roman" panose="02020603050405020304" pitchFamily="18" charset="0"/>
                          <a:cs typeface="Times New Roman" panose="02020603050405020304" pitchFamily="18" charset="0"/>
                        </a:rPr>
                        <a:t>Zanchak et al.[5]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dirty="0">
                          <a:effectLst/>
                          <a:latin typeface="Times New Roman" panose="02020603050405020304" pitchFamily="18" charset="0"/>
                          <a:cs typeface="Times New Roman" panose="02020603050405020304" pitchFamily="18" charset="0"/>
                        </a:rPr>
                        <a:t>Logistic regression, Naïve bayes classifier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80.5%</a:t>
                      </a:r>
                      <a:endParaRPr lang="en-IN" sz="1400">
                        <a:effectLst/>
                        <a:latin typeface="Times New Roman" panose="02020603050405020304" pitchFamily="18" charset="0"/>
                        <a:cs typeface="Times New Roman" panose="02020603050405020304" pitchFamily="18" charset="0"/>
                      </a:endParaRPr>
                    </a:p>
                    <a:p>
                      <a:pPr indent="144145" algn="just"/>
                      <a:r>
                        <a:rPr lang="en-US" sz="1400">
                          <a:effectLst/>
                          <a:latin typeface="Times New Roman" panose="02020603050405020304" pitchFamily="18" charset="0"/>
                          <a:cs typeface="Times New Roman" panose="02020603050405020304" pitchFamily="18" charset="0"/>
                        </a:rPr>
                        <a:t>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2716884663"/>
                  </a:ext>
                </a:extLst>
              </a:tr>
              <a:tr h="539023">
                <a:tc>
                  <a:txBody>
                    <a:bodyPr/>
                    <a:lstStyle/>
                    <a:p>
                      <a:pPr indent="144145" algn="just"/>
                      <a:r>
                        <a:rPr lang="en-US" sz="1400">
                          <a:effectLst/>
                          <a:latin typeface="Times New Roman" panose="02020603050405020304" pitchFamily="18" charset="0"/>
                          <a:cs typeface="Times New Roman" panose="02020603050405020304" pitchFamily="18" charset="0"/>
                        </a:rPr>
                        <a:t>Liu et al.[6]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dirty="0">
                          <a:effectLst/>
                          <a:latin typeface="Times New Roman" panose="02020603050405020304" pitchFamily="18" charset="0"/>
                          <a:cs typeface="Times New Roman" panose="02020603050405020304" pitchFamily="18" charset="0"/>
                        </a:rPr>
                        <a:t>Bert word embedding with LSTM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91.8% </a:t>
                      </a:r>
                      <a:endParaRPr lang="en-IN" sz="1400">
                        <a:effectLst/>
                        <a:latin typeface="Times New Roman" panose="02020603050405020304" pitchFamily="18" charset="0"/>
                        <a:cs typeface="Times New Roman" panose="02020603050405020304" pitchFamily="18" charset="0"/>
                      </a:endParaRPr>
                    </a:p>
                    <a:p>
                      <a:pPr indent="144145" algn="just"/>
                      <a:r>
                        <a:rPr lang="en-US" sz="1400">
                          <a:effectLst/>
                          <a:latin typeface="Times New Roman" panose="02020603050405020304" pitchFamily="18" charset="0"/>
                          <a:cs typeface="Times New Roman" panose="02020603050405020304" pitchFamily="18" charset="0"/>
                        </a:rPr>
                        <a:t>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2464981404"/>
                  </a:ext>
                </a:extLst>
              </a:tr>
              <a:tr h="539023">
                <a:tc>
                  <a:txBody>
                    <a:bodyPr/>
                    <a:lstStyle/>
                    <a:p>
                      <a:pPr indent="144145" algn="just"/>
                      <a:r>
                        <a:rPr lang="en-US" sz="1400" dirty="0">
                          <a:effectLst/>
                          <a:latin typeface="Times New Roman" panose="02020603050405020304" pitchFamily="18" charset="0"/>
                          <a:cs typeface="Times New Roman" panose="02020603050405020304" pitchFamily="18" charset="0"/>
                        </a:rPr>
                        <a:t>Sharma et al.[7]</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dirty="0">
                          <a:effectLst/>
                          <a:latin typeface="Times New Roman" panose="02020603050405020304" pitchFamily="18" charset="0"/>
                          <a:cs typeface="Times New Roman" panose="02020603050405020304" pitchFamily="18" charset="0"/>
                        </a:rPr>
                        <a:t>Ensembled based technique with word-embeddings of GloVe andWord2vec with LSTM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88.9% 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3626697380"/>
                  </a:ext>
                </a:extLst>
              </a:tr>
              <a:tr h="539023">
                <a:tc>
                  <a:txBody>
                    <a:bodyPr/>
                    <a:lstStyle/>
                    <a:p>
                      <a:pPr indent="144145" algn="just"/>
                      <a:r>
                        <a:rPr lang="en-US" sz="1400" dirty="0">
                          <a:effectLst/>
                          <a:latin typeface="Times New Roman" panose="02020603050405020304" pitchFamily="18" charset="0"/>
                          <a:cs typeface="Times New Roman" panose="02020603050405020304" pitchFamily="18" charset="0"/>
                        </a:rPr>
                        <a:t>Shrikhande et al.[8]</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dirty="0">
                          <a:effectLst/>
                          <a:latin typeface="Times New Roman" panose="02020603050405020304" pitchFamily="18" charset="0"/>
                          <a:cs typeface="Times New Roman" panose="02020603050405020304" pitchFamily="18" charset="0"/>
                        </a:rPr>
                        <a:t>CNN+ GloVe embedding technique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86.13%</a:t>
                      </a:r>
                      <a:endParaRPr lang="en-IN" sz="1400">
                        <a:effectLst/>
                        <a:latin typeface="Times New Roman" panose="02020603050405020304" pitchFamily="18" charset="0"/>
                        <a:cs typeface="Times New Roman" panose="02020603050405020304" pitchFamily="18" charset="0"/>
                      </a:endParaRPr>
                    </a:p>
                    <a:p>
                      <a:pPr indent="144145" algn="just"/>
                      <a:r>
                        <a:rPr lang="en-US" sz="1400">
                          <a:effectLst/>
                          <a:latin typeface="Times New Roman" panose="02020603050405020304" pitchFamily="18" charset="0"/>
                          <a:cs typeface="Times New Roman" panose="02020603050405020304" pitchFamily="18" charset="0"/>
                        </a:rPr>
                        <a:t>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2435510524"/>
                  </a:ext>
                </a:extLst>
              </a:tr>
              <a:tr h="580351">
                <a:tc>
                  <a:txBody>
                    <a:bodyPr/>
                    <a:lstStyle/>
                    <a:p>
                      <a:pPr indent="144145" algn="just"/>
                      <a:r>
                        <a:rPr lang="en-US" sz="1400">
                          <a:effectLst/>
                          <a:latin typeface="Times New Roman" panose="02020603050405020304" pitchFamily="18" charset="0"/>
                          <a:cs typeface="Times New Roman" panose="02020603050405020304" pitchFamily="18" charset="0"/>
                        </a:rPr>
                        <a:t>Ajnadkar et al.[9]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Bi-LSTM + Attention + CNN with word embeddings deep learning based model</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89.19% 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3500215796"/>
                  </a:ext>
                </a:extLst>
              </a:tr>
              <a:tr h="539023">
                <a:tc>
                  <a:txBody>
                    <a:bodyPr/>
                    <a:lstStyle/>
                    <a:p>
                      <a:pPr indent="144145" algn="just"/>
                      <a:r>
                        <a:rPr lang="en-US" sz="1400">
                          <a:effectLst/>
                          <a:latin typeface="Times New Roman" panose="02020603050405020304" pitchFamily="18" charset="0"/>
                          <a:cs typeface="Times New Roman" panose="02020603050405020304" pitchFamily="18" charset="0"/>
                        </a:rPr>
                        <a:t>Mandal et al. [10]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Deep learning models based on CNN and LSTM.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a:effectLst/>
                          <a:latin typeface="Times New Roman" panose="02020603050405020304" pitchFamily="18" charset="0"/>
                          <a:cs typeface="Times New Roman" panose="02020603050405020304" pitchFamily="18" charset="0"/>
                        </a:rPr>
                        <a:t>86.0%</a:t>
                      </a:r>
                      <a:endParaRPr lang="en-IN" sz="1400">
                        <a:effectLst/>
                        <a:latin typeface="Times New Roman" panose="02020603050405020304" pitchFamily="18" charset="0"/>
                        <a:cs typeface="Times New Roman" panose="02020603050405020304" pitchFamily="18" charset="0"/>
                      </a:endParaRPr>
                    </a:p>
                    <a:p>
                      <a:pPr indent="144145" algn="just"/>
                      <a:r>
                        <a:rPr lang="en-US" sz="1400">
                          <a:effectLst/>
                          <a:latin typeface="Times New Roman" panose="02020603050405020304" pitchFamily="18" charset="0"/>
                          <a:cs typeface="Times New Roman" panose="02020603050405020304" pitchFamily="18" charset="0"/>
                        </a:rPr>
                        <a:t>Accuracy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3344595750"/>
                  </a:ext>
                </a:extLst>
              </a:tr>
              <a:tr h="539023">
                <a:tc>
                  <a:txBody>
                    <a:bodyPr/>
                    <a:lstStyle/>
                    <a:p>
                      <a:pPr indent="144145" algn="just"/>
                      <a:r>
                        <a:rPr lang="en-US" sz="1400" dirty="0">
                          <a:effectLst/>
                          <a:latin typeface="Times New Roman" panose="02020603050405020304" pitchFamily="18" charset="0"/>
                          <a:cs typeface="Times New Roman" panose="02020603050405020304" pitchFamily="18" charset="0"/>
                        </a:rPr>
                        <a:t>Jariwala et al.[11]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dirty="0">
                          <a:effectLst/>
                          <a:latin typeface="Times New Roman" panose="02020603050405020304" pitchFamily="18" charset="0"/>
                          <a:cs typeface="Times New Roman" panose="02020603050405020304" pitchFamily="18" charset="0"/>
                        </a:rPr>
                        <a:t>Support vector machine (SVM) on News Headlines dataset with optimal feature selection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tc>
                  <a:txBody>
                    <a:bodyPr/>
                    <a:lstStyle/>
                    <a:p>
                      <a:pPr indent="144145" algn="just"/>
                      <a:r>
                        <a:rPr lang="en-US" sz="1400" dirty="0">
                          <a:effectLst/>
                          <a:latin typeface="Times New Roman" panose="02020603050405020304" pitchFamily="18" charset="0"/>
                          <a:cs typeface="Times New Roman" panose="02020603050405020304" pitchFamily="18" charset="0"/>
                        </a:rPr>
                        <a:t>78.82%</a:t>
                      </a:r>
                      <a:endParaRPr lang="en-IN" sz="1400" dirty="0">
                        <a:effectLst/>
                        <a:latin typeface="Times New Roman" panose="02020603050405020304" pitchFamily="18" charset="0"/>
                        <a:cs typeface="Times New Roman" panose="02020603050405020304" pitchFamily="18" charset="0"/>
                      </a:endParaRPr>
                    </a:p>
                    <a:p>
                      <a:pPr indent="144145" algn="just"/>
                      <a:r>
                        <a:rPr lang="en-US" sz="1400" dirty="0">
                          <a:effectLst/>
                          <a:latin typeface="Times New Roman" panose="02020603050405020304" pitchFamily="18" charset="0"/>
                          <a:cs typeface="Times New Roman" panose="02020603050405020304" pitchFamily="18" charset="0"/>
                        </a:rPr>
                        <a:t>Accuracy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397" marR="39397" marT="0" marB="74648"/>
                </a:tc>
                <a:extLst>
                  <a:ext uri="{0D108BD9-81ED-4DB2-BD59-A6C34878D82A}">
                    <a16:rowId xmlns:a16="http://schemas.microsoft.com/office/drawing/2014/main" val="3988595321"/>
                  </a:ext>
                </a:extLst>
              </a:tr>
            </a:tbl>
          </a:graphicData>
        </a:graphic>
      </p:graphicFrame>
    </p:spTree>
    <p:extLst>
      <p:ext uri="{BB962C8B-B14F-4D97-AF65-F5344CB8AC3E}">
        <p14:creationId xmlns:p14="http://schemas.microsoft.com/office/powerpoint/2010/main" val="4201683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681DD-3548-8664-80D9-FD83A0C7CF48}"/>
              </a:ext>
            </a:extLst>
          </p:cNvPr>
          <p:cNvSpPr>
            <a:spLocks noGrp="1"/>
          </p:cNvSpPr>
          <p:nvPr>
            <p:ph type="title"/>
          </p:nvPr>
        </p:nvSpPr>
        <p:spPr>
          <a:xfrm>
            <a:off x="763556" y="178514"/>
            <a:ext cx="10515600" cy="773210"/>
          </a:xfrm>
        </p:spPr>
        <p:txBody>
          <a:bodyPr>
            <a:normAutofit/>
          </a:bodyPr>
          <a:lstStyle/>
          <a:p>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Dataset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E00B8A-4FC6-1F95-BF62-239D89B86D04}"/>
              </a:ext>
            </a:extLst>
          </p:cNvPr>
          <p:cNvSpPr>
            <a:spLocks noGrp="1"/>
          </p:cNvSpPr>
          <p:nvPr>
            <p:ph idx="1"/>
          </p:nvPr>
        </p:nvSpPr>
        <p:spPr>
          <a:xfrm>
            <a:off x="763556" y="1026527"/>
            <a:ext cx="10515600" cy="4351338"/>
          </a:xfrm>
        </p:spPr>
        <p:txBody>
          <a:bodyPr>
            <a:normAutofit/>
          </a:bodyPr>
          <a:lstStyle/>
          <a:p>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this study, we have collected News Headline  dataset from Kaggle website. This dataset </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contains headlines of both sarcastic and non-sarcastic category, collected from two different websites </a:t>
            </a: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“The Onion” </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 HuffPost”</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respectively.</a:t>
            </a:r>
          </a:p>
          <a:p>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Moreover, the total number of instances in this dataset is 28619 with no missing or null values. The values are  assigned 0 to non-sarcastic sentences and 1 to sarcastic sentences in “is_sarcastic” attribute of news headline dataset. </a:t>
            </a:r>
          </a:p>
          <a:p>
            <a:pPr marL="0" indent="0" algn="ctr">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ctr">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Table 1: Descriptive Statistic of Original News Headline Dataset</a:t>
            </a:r>
          </a:p>
          <a:p>
            <a:endParaRPr lang="en-IN" dirty="0"/>
          </a:p>
        </p:txBody>
      </p:sp>
      <p:graphicFrame>
        <p:nvGraphicFramePr>
          <p:cNvPr id="4" name="Table 3">
            <a:extLst>
              <a:ext uri="{FF2B5EF4-FFF2-40B4-BE49-F238E27FC236}">
                <a16:creationId xmlns:a16="http://schemas.microsoft.com/office/drawing/2014/main" id="{921720D2-3D86-6FB4-4C3C-FCE057B398F8}"/>
              </a:ext>
            </a:extLst>
          </p:cNvPr>
          <p:cNvGraphicFramePr>
            <a:graphicFrameLocks noGrp="1"/>
          </p:cNvGraphicFramePr>
          <p:nvPr>
            <p:extLst>
              <p:ext uri="{D42A27DB-BD31-4B8C-83A1-F6EECF244321}">
                <p14:modId xmlns:p14="http://schemas.microsoft.com/office/powerpoint/2010/main" val="3637003372"/>
              </p:ext>
            </p:extLst>
          </p:nvPr>
        </p:nvGraphicFramePr>
        <p:xfrm>
          <a:off x="2780522" y="4076245"/>
          <a:ext cx="6839339" cy="2603241"/>
        </p:xfrm>
        <a:graphic>
          <a:graphicData uri="http://schemas.openxmlformats.org/drawingml/2006/table">
            <a:tbl>
              <a:tblPr firstRow="1" firstCol="1" bandRow="1">
                <a:tableStyleId>{5C22544A-7EE6-4342-B048-85BDC9FD1C3A}</a:tableStyleId>
              </a:tblPr>
              <a:tblGrid>
                <a:gridCol w="3487218">
                  <a:extLst>
                    <a:ext uri="{9D8B030D-6E8A-4147-A177-3AD203B41FA5}">
                      <a16:colId xmlns:a16="http://schemas.microsoft.com/office/drawing/2014/main" val="1131086066"/>
                    </a:ext>
                  </a:extLst>
                </a:gridCol>
                <a:gridCol w="3352121">
                  <a:extLst>
                    <a:ext uri="{9D8B030D-6E8A-4147-A177-3AD203B41FA5}">
                      <a16:colId xmlns:a16="http://schemas.microsoft.com/office/drawing/2014/main" val="1744903166"/>
                    </a:ext>
                  </a:extLst>
                </a:gridCol>
              </a:tblGrid>
              <a:tr h="867747">
                <a:tc>
                  <a:txBody>
                    <a:bodyPr/>
                    <a:lstStyle/>
                    <a:p>
                      <a:pPr indent="144145" algn="l"/>
                      <a:r>
                        <a:rPr lang="en-IN" sz="1800" dirty="0">
                          <a:effectLst/>
                          <a:latin typeface="Times New Roman" panose="02020603050405020304" pitchFamily="18" charset="0"/>
                          <a:cs typeface="Times New Roman" panose="02020603050405020304" pitchFamily="18" charset="0"/>
                        </a:rPr>
                        <a:t># Headlines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l"/>
                      <a:r>
                        <a:rPr lang="en-IN" sz="1800" dirty="0">
                          <a:solidFill>
                            <a:schemeClr val="tx1"/>
                          </a:solidFill>
                          <a:effectLst/>
                          <a:latin typeface="Times New Roman" panose="02020603050405020304" pitchFamily="18" charset="0"/>
                          <a:cs typeface="Times New Roman" panose="02020603050405020304" pitchFamily="18" charset="0"/>
                        </a:rPr>
                        <a:t>28619</a:t>
                      </a:r>
                      <a:endPar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37370046"/>
                  </a:ext>
                </a:extLst>
              </a:tr>
              <a:tr h="867747">
                <a:tc>
                  <a:txBody>
                    <a:bodyPr/>
                    <a:lstStyle/>
                    <a:p>
                      <a:pPr indent="144145" algn="l"/>
                      <a:r>
                        <a:rPr lang="en-IN" sz="1800">
                          <a:effectLst/>
                          <a:latin typeface="Times New Roman" panose="02020603050405020304" pitchFamily="18" charset="0"/>
                          <a:cs typeface="Times New Roman" panose="02020603050405020304" pitchFamily="18" charset="0"/>
                        </a:rPr>
                        <a:t>Sarcastic headlines (in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l"/>
                      <a:r>
                        <a:rPr lang="en-IN" sz="1800" b="1" dirty="0">
                          <a:solidFill>
                            <a:schemeClr val="tx1"/>
                          </a:solidFill>
                          <a:effectLst/>
                          <a:latin typeface="Times New Roman" panose="02020603050405020304" pitchFamily="18" charset="0"/>
                          <a:cs typeface="Times New Roman" panose="02020603050405020304" pitchFamily="18" charset="0"/>
                        </a:rPr>
                        <a:t>52</a:t>
                      </a:r>
                      <a:endPar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33047166"/>
                  </a:ext>
                </a:extLst>
              </a:tr>
              <a:tr h="867747">
                <a:tc>
                  <a:txBody>
                    <a:bodyPr/>
                    <a:lstStyle/>
                    <a:p>
                      <a:pPr indent="144145" algn="l"/>
                      <a:r>
                        <a:rPr lang="en-IN" sz="1800">
                          <a:effectLst/>
                          <a:latin typeface="Times New Roman" panose="02020603050405020304" pitchFamily="18" charset="0"/>
                          <a:cs typeface="Times New Roman" panose="02020603050405020304" pitchFamily="18" charset="0"/>
                        </a:rPr>
                        <a:t>Non-sarcastic headlines (in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l"/>
                      <a:r>
                        <a:rPr lang="en-IN" sz="1800" b="1" dirty="0">
                          <a:solidFill>
                            <a:schemeClr val="tx1"/>
                          </a:solidFill>
                          <a:effectLst/>
                          <a:latin typeface="Times New Roman" panose="02020603050405020304" pitchFamily="18" charset="0"/>
                          <a:cs typeface="Times New Roman" panose="02020603050405020304" pitchFamily="18" charset="0"/>
                        </a:rPr>
                        <a:t>47.6</a:t>
                      </a:r>
                      <a:endPar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72838175"/>
                  </a:ext>
                </a:extLst>
              </a:tr>
            </a:tbl>
          </a:graphicData>
        </a:graphic>
      </p:graphicFrame>
    </p:spTree>
    <p:extLst>
      <p:ext uri="{BB962C8B-B14F-4D97-AF65-F5344CB8AC3E}">
        <p14:creationId xmlns:p14="http://schemas.microsoft.com/office/powerpoint/2010/main" val="2599438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0F29B-0608-D80C-E8B7-2E5058E9D898}"/>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Data Augmentation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D20072-6726-02AF-180A-5F7BD6ACCE69}"/>
              </a:ext>
            </a:extLst>
          </p:cNvPr>
          <p:cNvSpPr>
            <a:spLocks noGrp="1"/>
          </p:cNvSpPr>
          <p:nvPr>
            <p:ph idx="1"/>
          </p:nvPr>
        </p:nvSpPr>
        <p:spPr/>
        <p:txBody>
          <a:bodyPr>
            <a:normAutofit/>
          </a:bodyPr>
          <a:lstStyle/>
          <a:p>
            <a:r>
              <a:rPr lang="en-IN" dirty="0">
                <a:latin typeface="Times New Roman" panose="02020603050405020304" pitchFamily="18" charset="0"/>
                <a:ea typeface="Times New Roman" panose="02020603050405020304" pitchFamily="18" charset="0"/>
                <a:cs typeface="Times New Roman" panose="02020603050405020304" pitchFamily="18" charset="0"/>
              </a:rPr>
              <a:t>W</a:t>
            </a: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e have newly incorporated text augmentation technique  such as nlp_aug  algorithm to synthesize new data from existing data.</a:t>
            </a:r>
          </a:p>
          <a:p>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 The methods used by nlp_aug for text augmentation involve:</a:t>
            </a:r>
          </a:p>
          <a:p>
            <a:pPr>
              <a:buFont typeface="Wingdings" panose="05000000000000000000" pitchFamily="2" charset="2"/>
              <a:buChar char="v"/>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 substituting words  with their corresponding synonyms,</a:t>
            </a:r>
          </a:p>
          <a:p>
            <a:pPr>
              <a:buFont typeface="Wingdings" panose="05000000000000000000" pitchFamily="2" charset="2"/>
              <a:buChar char="v"/>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replacing them with words having similar word-embeddings vector,</a:t>
            </a:r>
          </a:p>
          <a:p>
            <a:pPr>
              <a:buFont typeface="Wingdings" panose="05000000000000000000" pitchFamily="2" charset="2"/>
              <a:buChar char="v"/>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using context-based transformer model to replace with words having similar contextual meaning, </a:t>
            </a:r>
          </a:p>
          <a:p>
            <a:pPr>
              <a:buFont typeface="Wingdings" panose="05000000000000000000" pitchFamily="2" charset="2"/>
              <a:buChar char="v"/>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back translation </a:t>
            </a:r>
          </a:p>
        </p:txBody>
      </p:sp>
    </p:spTree>
    <p:extLst>
      <p:ext uri="{BB962C8B-B14F-4D97-AF65-F5344CB8AC3E}">
        <p14:creationId xmlns:p14="http://schemas.microsoft.com/office/powerpoint/2010/main" val="1958086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2662-D725-329B-34D1-939E95B6E57F}"/>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Final Augmented Dataset</a:t>
            </a:r>
          </a:p>
        </p:txBody>
      </p:sp>
      <p:sp>
        <p:nvSpPr>
          <p:cNvPr id="3" name="Content Placeholder 2">
            <a:extLst>
              <a:ext uri="{FF2B5EF4-FFF2-40B4-BE49-F238E27FC236}">
                <a16:creationId xmlns:a16="http://schemas.microsoft.com/office/drawing/2014/main" id="{0C2346B8-8B65-3A81-5FE2-51B00E8EE87E}"/>
              </a:ext>
            </a:extLst>
          </p:cNvPr>
          <p:cNvSpPr>
            <a:spLocks noGrp="1"/>
          </p:cNvSpPr>
          <p:nvPr>
            <p:ph idx="1"/>
          </p:nvPr>
        </p:nvSpPr>
        <p:spPr/>
        <p:txBody>
          <a:bodyPr/>
          <a:lstStyle/>
          <a:p>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After incorporating nlp_aug text augmentation with the original news headline dataset, we increased our size of the dataset. </a:t>
            </a:r>
          </a:p>
          <a:p>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The statistic of the newly synthesized dataset is summarized below:</a:t>
            </a:r>
          </a:p>
          <a:p>
            <a:pPr marL="0" indent="0">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Table </a:t>
            </a:r>
            <a:r>
              <a:rPr lang="en-IN" sz="1800" dirty="0">
                <a:latin typeface="Times New Roman" panose="02020603050405020304" pitchFamily="18" charset="0"/>
                <a:ea typeface="Times New Roman" panose="02020603050405020304" pitchFamily="18" charset="0"/>
                <a:cs typeface="Times New Roman" panose="02020603050405020304" pitchFamily="18" charset="0"/>
              </a:rPr>
              <a:t>2</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Descriptive Statistic of  Augmented News Headline Dataset</a:t>
            </a:r>
          </a:p>
          <a:p>
            <a:pPr marL="0" indent="0">
              <a:buNone/>
            </a:pPr>
            <a:endParaRPr lang="en-IN" dirty="0"/>
          </a:p>
        </p:txBody>
      </p:sp>
      <p:graphicFrame>
        <p:nvGraphicFramePr>
          <p:cNvPr id="7" name="Table 6">
            <a:extLst>
              <a:ext uri="{FF2B5EF4-FFF2-40B4-BE49-F238E27FC236}">
                <a16:creationId xmlns:a16="http://schemas.microsoft.com/office/drawing/2014/main" id="{72DB6768-73F4-2587-E4BD-0936EEEAA530}"/>
              </a:ext>
            </a:extLst>
          </p:cNvPr>
          <p:cNvGraphicFramePr>
            <a:graphicFrameLocks noGrp="1"/>
          </p:cNvGraphicFramePr>
          <p:nvPr>
            <p:extLst>
              <p:ext uri="{D42A27DB-BD31-4B8C-83A1-F6EECF244321}">
                <p14:modId xmlns:p14="http://schemas.microsoft.com/office/powerpoint/2010/main" val="1700168582"/>
              </p:ext>
            </p:extLst>
          </p:nvPr>
        </p:nvGraphicFramePr>
        <p:xfrm>
          <a:off x="3265714" y="4001294"/>
          <a:ext cx="7259216" cy="2517300"/>
        </p:xfrm>
        <a:graphic>
          <a:graphicData uri="http://schemas.openxmlformats.org/drawingml/2006/table">
            <a:tbl>
              <a:tblPr firstRow="1" firstCol="1" bandRow="1">
                <a:tableStyleId>{5C22544A-7EE6-4342-B048-85BDC9FD1C3A}</a:tableStyleId>
              </a:tblPr>
              <a:tblGrid>
                <a:gridCol w="4493501">
                  <a:extLst>
                    <a:ext uri="{9D8B030D-6E8A-4147-A177-3AD203B41FA5}">
                      <a16:colId xmlns:a16="http://schemas.microsoft.com/office/drawing/2014/main" val="1749333232"/>
                    </a:ext>
                  </a:extLst>
                </a:gridCol>
                <a:gridCol w="2765715">
                  <a:extLst>
                    <a:ext uri="{9D8B030D-6E8A-4147-A177-3AD203B41FA5}">
                      <a16:colId xmlns:a16="http://schemas.microsoft.com/office/drawing/2014/main" val="249212894"/>
                    </a:ext>
                  </a:extLst>
                </a:gridCol>
              </a:tblGrid>
              <a:tr h="563699">
                <a:tc>
                  <a:txBody>
                    <a:bodyPr/>
                    <a:lstStyle/>
                    <a:p>
                      <a:pPr indent="144145" algn="l"/>
                      <a:r>
                        <a:rPr lang="en-IN" sz="1800">
                          <a:effectLst/>
                          <a:latin typeface="Times New Roman" panose="02020603050405020304" pitchFamily="18" charset="0"/>
                          <a:cs typeface="Times New Roman" panose="02020603050405020304" pitchFamily="18" charset="0"/>
                        </a:rPr>
                        <a:t># Headlines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l"/>
                      <a:r>
                        <a:rPr lang="en-IN" sz="1800" b="1" dirty="0">
                          <a:solidFill>
                            <a:schemeClr val="tx1"/>
                          </a:solidFill>
                          <a:effectLst/>
                          <a:latin typeface="Times New Roman" panose="02020603050405020304" pitchFamily="18" charset="0"/>
                          <a:cs typeface="Times New Roman" panose="02020603050405020304" pitchFamily="18" charset="0"/>
                        </a:rPr>
                        <a:t>133545</a:t>
                      </a:r>
                      <a:endPar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4619949"/>
                  </a:ext>
                </a:extLst>
              </a:tr>
              <a:tr h="563699">
                <a:tc>
                  <a:txBody>
                    <a:bodyPr/>
                    <a:lstStyle/>
                    <a:p>
                      <a:pPr indent="144145" algn="l"/>
                      <a:r>
                        <a:rPr lang="en-IN" sz="1800">
                          <a:effectLst/>
                          <a:latin typeface="Times New Roman" panose="02020603050405020304" pitchFamily="18" charset="0"/>
                          <a:cs typeface="Times New Roman" panose="02020603050405020304" pitchFamily="18" charset="0"/>
                        </a:rPr>
                        <a:t>Sarcastic headlines (in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l"/>
                      <a:r>
                        <a:rPr lang="en-IN" sz="1800" b="1" dirty="0">
                          <a:solidFill>
                            <a:schemeClr val="tx1"/>
                          </a:solidFill>
                          <a:effectLst/>
                          <a:latin typeface="Times New Roman" panose="02020603050405020304" pitchFamily="18" charset="0"/>
                          <a:cs typeface="Times New Roman" panose="02020603050405020304" pitchFamily="18" charset="0"/>
                        </a:rPr>
                        <a:t>56.1</a:t>
                      </a:r>
                      <a:endPar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5965649"/>
                  </a:ext>
                </a:extLst>
              </a:tr>
              <a:tr h="694951">
                <a:tc>
                  <a:txBody>
                    <a:bodyPr/>
                    <a:lstStyle/>
                    <a:p>
                      <a:pPr indent="144145" algn="l"/>
                      <a:r>
                        <a:rPr lang="en-IN" sz="1800">
                          <a:effectLst/>
                          <a:latin typeface="Times New Roman" panose="02020603050405020304" pitchFamily="18" charset="0"/>
                          <a:cs typeface="Times New Roman" panose="02020603050405020304" pitchFamily="18" charset="0"/>
                        </a:rPr>
                        <a:t>Non-sarcastic headlines (in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l"/>
                      <a:r>
                        <a:rPr lang="en-IN" sz="1800" b="1">
                          <a:solidFill>
                            <a:schemeClr val="tx1"/>
                          </a:solidFill>
                          <a:effectLst/>
                          <a:latin typeface="Times New Roman" panose="02020603050405020304" pitchFamily="18" charset="0"/>
                          <a:cs typeface="Times New Roman" panose="02020603050405020304" pitchFamily="18" charset="0"/>
                        </a:rPr>
                        <a:t>43.9</a:t>
                      </a:r>
                      <a:endParaRPr lang="en-IN" sz="18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70363002"/>
                  </a:ext>
                </a:extLst>
              </a:tr>
              <a:tr h="694951">
                <a:tc>
                  <a:txBody>
                    <a:bodyPr/>
                    <a:lstStyle/>
                    <a:p>
                      <a:pPr indent="144145" algn="l"/>
                      <a:r>
                        <a:rPr lang="en-IN" sz="1800" dirty="0">
                          <a:effectLst/>
                          <a:latin typeface="Times New Roman" panose="02020603050405020304" pitchFamily="18" charset="0"/>
                          <a:cs typeface="Times New Roman" panose="02020603050405020304" pitchFamily="18" charset="0"/>
                        </a:rPr>
                        <a:t>Max word length in  headlines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l"/>
                      <a:r>
                        <a:rPr lang="en-IN" sz="1800" b="1" dirty="0">
                          <a:solidFill>
                            <a:schemeClr val="tx1"/>
                          </a:solidFill>
                          <a:effectLst/>
                          <a:latin typeface="Times New Roman" panose="02020603050405020304" pitchFamily="18" charset="0"/>
                          <a:cs typeface="Times New Roman" panose="02020603050405020304" pitchFamily="18" charset="0"/>
                        </a:rPr>
                        <a:t>51</a:t>
                      </a:r>
                      <a:endPar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21844424"/>
                  </a:ext>
                </a:extLst>
              </a:tr>
            </a:tbl>
          </a:graphicData>
        </a:graphic>
      </p:graphicFrame>
    </p:spTree>
    <p:extLst>
      <p:ext uri="{BB962C8B-B14F-4D97-AF65-F5344CB8AC3E}">
        <p14:creationId xmlns:p14="http://schemas.microsoft.com/office/powerpoint/2010/main" val="2794008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C9B0F7-CCBE-7D45-7AEE-D5DEB596FAD5}"/>
              </a:ext>
            </a:extLst>
          </p:cNvPr>
          <p:cNvSpPr>
            <a:spLocks noGrp="1"/>
          </p:cNvSpPr>
          <p:nvPr>
            <p:ph idx="1"/>
          </p:nvPr>
        </p:nvSpPr>
        <p:spPr>
          <a:xfrm>
            <a:off x="838200" y="907437"/>
            <a:ext cx="10515600" cy="4351338"/>
          </a:xfrm>
        </p:spPr>
        <p:txBody>
          <a:bodyPr/>
          <a:lstStyle/>
          <a:p>
            <a:pPr marL="0" indent="0" algn="jus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mean value of the data column(“is_sarcastic”) is approximately 0.43, which signifies that the dataset is not heavily affected by skewness and thus, appropriated for our study.</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0FD56FF9-D72B-B661-316A-1174C3FD51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20636" y="2321106"/>
            <a:ext cx="6956789" cy="4074294"/>
          </a:xfrm>
          <a:prstGeom prst="rect">
            <a:avLst/>
          </a:prstGeom>
          <a:noFill/>
          <a:ln>
            <a:noFill/>
          </a:ln>
        </p:spPr>
      </p:pic>
    </p:spTree>
    <p:extLst>
      <p:ext uri="{BB962C8B-B14F-4D97-AF65-F5344CB8AC3E}">
        <p14:creationId xmlns:p14="http://schemas.microsoft.com/office/powerpoint/2010/main" val="3888994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3CB28-FA61-4BAF-7A5C-777C1F074C4D}"/>
              </a:ext>
            </a:extLst>
          </p:cNvPr>
          <p:cNvSpPr>
            <a:spLocks noGrp="1"/>
          </p:cNvSpPr>
          <p:nvPr>
            <p:ph type="title"/>
          </p:nvPr>
        </p:nvSpPr>
        <p:spPr>
          <a:xfrm>
            <a:off x="838200" y="916636"/>
            <a:ext cx="10515600" cy="2852737"/>
          </a:xfrm>
        </p:spPr>
        <p:txBody>
          <a:bodyPr>
            <a:normAutofit/>
          </a:bodyPr>
          <a:lstStyle/>
          <a:p>
            <a:pPr algn="ctr"/>
            <a:r>
              <a:rPr lang="en-IN" sz="4000" b="1" dirty="0">
                <a:latin typeface="Times New Roman" panose="02020603050405020304" pitchFamily="18" charset="0"/>
                <a:cs typeface="Times New Roman" panose="02020603050405020304" pitchFamily="18" charset="0"/>
              </a:rPr>
              <a:t>PROPOSED METHODOLOGY</a:t>
            </a:r>
          </a:p>
        </p:txBody>
      </p:sp>
    </p:spTree>
    <p:extLst>
      <p:ext uri="{BB962C8B-B14F-4D97-AF65-F5344CB8AC3E}">
        <p14:creationId xmlns:p14="http://schemas.microsoft.com/office/powerpoint/2010/main" val="1120561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Rectangle 203">
            <a:extLst>
              <a:ext uri="{FF2B5EF4-FFF2-40B4-BE49-F238E27FC236}">
                <a16:creationId xmlns:a16="http://schemas.microsoft.com/office/drawing/2014/main" id="{CEAA673A-A63C-09F4-7169-91FFC6C47DEB}"/>
              </a:ext>
            </a:extLst>
          </p:cNvPr>
          <p:cNvSpPr/>
          <p:nvPr/>
        </p:nvSpPr>
        <p:spPr>
          <a:xfrm>
            <a:off x="7125396" y="4757744"/>
            <a:ext cx="2166180" cy="4028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DENSE  LAYER</a:t>
            </a:r>
            <a:endParaRPr lang="en-IN" dirty="0">
              <a:latin typeface="Times New Roman" panose="02020603050405020304" pitchFamily="18" charset="0"/>
              <a:cs typeface="Times New Roman" panose="02020603050405020304" pitchFamily="18" charset="0"/>
            </a:endParaRPr>
          </a:p>
        </p:txBody>
      </p:sp>
      <p:sp>
        <p:nvSpPr>
          <p:cNvPr id="205" name="Rectangle 204">
            <a:extLst>
              <a:ext uri="{FF2B5EF4-FFF2-40B4-BE49-F238E27FC236}">
                <a16:creationId xmlns:a16="http://schemas.microsoft.com/office/drawing/2014/main" id="{4A2EC227-DBE9-6EA9-0D01-BA76791123DA}"/>
              </a:ext>
            </a:extLst>
          </p:cNvPr>
          <p:cNvSpPr/>
          <p:nvPr/>
        </p:nvSpPr>
        <p:spPr>
          <a:xfrm>
            <a:off x="7249917" y="5390494"/>
            <a:ext cx="1942255" cy="4028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OUTPUT  LAYER</a:t>
            </a:r>
            <a:endParaRPr lang="en-IN" dirty="0">
              <a:latin typeface="Times New Roman" panose="02020603050405020304" pitchFamily="18" charset="0"/>
              <a:cs typeface="Times New Roman" panose="02020603050405020304" pitchFamily="18" charset="0"/>
            </a:endParaRPr>
          </a:p>
        </p:txBody>
      </p:sp>
      <p:sp>
        <p:nvSpPr>
          <p:cNvPr id="203" name="Rectangle 202">
            <a:extLst>
              <a:ext uri="{FF2B5EF4-FFF2-40B4-BE49-F238E27FC236}">
                <a16:creationId xmlns:a16="http://schemas.microsoft.com/office/drawing/2014/main" id="{BE94D6EF-1B0F-84EF-369D-FDA275099135}"/>
              </a:ext>
            </a:extLst>
          </p:cNvPr>
          <p:cNvSpPr/>
          <p:nvPr/>
        </p:nvSpPr>
        <p:spPr>
          <a:xfrm>
            <a:off x="2940865" y="472436"/>
            <a:ext cx="8493567" cy="1817623"/>
          </a:xfrm>
          <a:prstGeom prst="rect">
            <a:avLst/>
          </a:prstGeom>
          <a:ln w="190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 name="Rectangle 3">
            <a:extLst>
              <a:ext uri="{FF2B5EF4-FFF2-40B4-BE49-F238E27FC236}">
                <a16:creationId xmlns:a16="http://schemas.microsoft.com/office/drawing/2014/main" id="{2398F08F-7D43-4C53-91E5-2A00948E5B55}"/>
              </a:ext>
            </a:extLst>
          </p:cNvPr>
          <p:cNvSpPr/>
          <p:nvPr/>
        </p:nvSpPr>
        <p:spPr>
          <a:xfrm>
            <a:off x="536907" y="1001075"/>
            <a:ext cx="1712620" cy="3429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INPUT TEXT</a:t>
            </a:r>
            <a:endParaRPr lang="en-IN"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298D242F-AA04-87C5-22BB-E02CD4F16480}"/>
              </a:ext>
            </a:extLst>
          </p:cNvPr>
          <p:cNvSpPr/>
          <p:nvPr/>
        </p:nvSpPr>
        <p:spPr>
          <a:xfrm>
            <a:off x="5917159" y="918413"/>
            <a:ext cx="4889736" cy="5698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Tokenization  using  BertTokenizer</a:t>
            </a:r>
            <a:endParaRPr lang="en-IN" dirty="0">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023EF98F-BF95-2AA0-B707-4CF7178E25BE}"/>
              </a:ext>
            </a:extLst>
          </p:cNvPr>
          <p:cNvSpPr/>
          <p:nvPr/>
        </p:nvSpPr>
        <p:spPr>
          <a:xfrm>
            <a:off x="6031457" y="1720916"/>
            <a:ext cx="1213294" cy="4726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Input ids </a:t>
            </a:r>
            <a:endParaRPr lang="en-IN" dirty="0">
              <a:latin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08966B34-7A43-40E7-1431-E6112AD4B90D}"/>
              </a:ext>
            </a:extLst>
          </p:cNvPr>
          <p:cNvSpPr/>
          <p:nvPr/>
        </p:nvSpPr>
        <p:spPr>
          <a:xfrm>
            <a:off x="7264938" y="2625321"/>
            <a:ext cx="1829895" cy="4003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BERT MODEL</a:t>
            </a:r>
            <a:endParaRPr lang="en-IN" dirty="0">
              <a:latin typeface="Times New Roman" panose="02020603050405020304" pitchFamily="18" charset="0"/>
              <a:cs typeface="Times New Roman" panose="02020603050405020304" pitchFamily="18" charset="0"/>
            </a:endParaRPr>
          </a:p>
        </p:txBody>
      </p:sp>
      <p:sp>
        <p:nvSpPr>
          <p:cNvPr id="71" name="Rectangle 70">
            <a:extLst>
              <a:ext uri="{FF2B5EF4-FFF2-40B4-BE49-F238E27FC236}">
                <a16:creationId xmlns:a16="http://schemas.microsoft.com/office/drawing/2014/main" id="{EFEB7781-3542-B25D-E930-22CBE39ACEF0}"/>
              </a:ext>
            </a:extLst>
          </p:cNvPr>
          <p:cNvSpPr/>
          <p:nvPr/>
        </p:nvSpPr>
        <p:spPr>
          <a:xfrm>
            <a:off x="7227174" y="4095824"/>
            <a:ext cx="1867659" cy="480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ATTENTION LAYER</a:t>
            </a:r>
          </a:p>
        </p:txBody>
      </p:sp>
      <p:sp>
        <p:nvSpPr>
          <p:cNvPr id="73" name="Rectangle: Rounded Corners 72">
            <a:extLst>
              <a:ext uri="{FF2B5EF4-FFF2-40B4-BE49-F238E27FC236}">
                <a16:creationId xmlns:a16="http://schemas.microsoft.com/office/drawing/2014/main" id="{507D85D2-A141-A554-A46B-39AF57C3A25E}"/>
              </a:ext>
            </a:extLst>
          </p:cNvPr>
          <p:cNvSpPr/>
          <p:nvPr/>
        </p:nvSpPr>
        <p:spPr>
          <a:xfrm>
            <a:off x="9571170" y="1730720"/>
            <a:ext cx="1414264" cy="4726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Attention Mask</a:t>
            </a:r>
            <a:endParaRPr lang="en-IN" dirty="0">
              <a:latin typeface="Times New Roman" panose="02020603050405020304" pitchFamily="18" charset="0"/>
              <a:cs typeface="Times New Roman" panose="02020603050405020304" pitchFamily="18" charset="0"/>
            </a:endParaRPr>
          </a:p>
        </p:txBody>
      </p:sp>
      <p:sp>
        <p:nvSpPr>
          <p:cNvPr id="83" name="Oval 82">
            <a:extLst>
              <a:ext uri="{FF2B5EF4-FFF2-40B4-BE49-F238E27FC236}">
                <a16:creationId xmlns:a16="http://schemas.microsoft.com/office/drawing/2014/main" id="{6EB7FD85-79C5-8BDB-6FFE-F8CFBCF44B0F}"/>
              </a:ext>
            </a:extLst>
          </p:cNvPr>
          <p:cNvSpPr/>
          <p:nvPr/>
        </p:nvSpPr>
        <p:spPr>
          <a:xfrm>
            <a:off x="4360661" y="4681739"/>
            <a:ext cx="1792074" cy="5274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ReLU Activation </a:t>
            </a:r>
            <a:endParaRPr lang="en-IN" dirty="0">
              <a:latin typeface="Times New Roman" panose="02020603050405020304" pitchFamily="18" charset="0"/>
              <a:cs typeface="Times New Roman" panose="02020603050405020304" pitchFamily="18" charset="0"/>
            </a:endParaRPr>
          </a:p>
        </p:txBody>
      </p:sp>
      <p:sp>
        <p:nvSpPr>
          <p:cNvPr id="93" name="Oval 92">
            <a:extLst>
              <a:ext uri="{FF2B5EF4-FFF2-40B4-BE49-F238E27FC236}">
                <a16:creationId xmlns:a16="http://schemas.microsoft.com/office/drawing/2014/main" id="{7038D1D5-7C9B-63DF-4F4F-31AD68754A3C}"/>
              </a:ext>
            </a:extLst>
          </p:cNvPr>
          <p:cNvSpPr/>
          <p:nvPr/>
        </p:nvSpPr>
        <p:spPr>
          <a:xfrm>
            <a:off x="4421101" y="5461696"/>
            <a:ext cx="1792074" cy="5274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Sigmoid Activation </a:t>
            </a:r>
            <a:endParaRPr lang="en-IN" dirty="0">
              <a:latin typeface="Times New Roman" panose="02020603050405020304" pitchFamily="18" charset="0"/>
              <a:cs typeface="Times New Roman" panose="02020603050405020304" pitchFamily="18" charset="0"/>
            </a:endParaRPr>
          </a:p>
        </p:txBody>
      </p:sp>
      <p:sp>
        <p:nvSpPr>
          <p:cNvPr id="111" name="Rectangle: Rounded Corners 110">
            <a:extLst>
              <a:ext uri="{FF2B5EF4-FFF2-40B4-BE49-F238E27FC236}">
                <a16:creationId xmlns:a16="http://schemas.microsoft.com/office/drawing/2014/main" id="{208FC1BE-E9A3-2A9D-A8EA-63054E041888}"/>
              </a:ext>
            </a:extLst>
          </p:cNvPr>
          <p:cNvSpPr/>
          <p:nvPr/>
        </p:nvSpPr>
        <p:spPr>
          <a:xfrm>
            <a:off x="10213501" y="5005087"/>
            <a:ext cx="1543069" cy="4028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Sarcastic</a:t>
            </a:r>
            <a:endParaRPr lang="en-IN" dirty="0">
              <a:latin typeface="Times New Roman" panose="02020603050405020304" pitchFamily="18" charset="0"/>
              <a:cs typeface="Times New Roman" panose="02020603050405020304" pitchFamily="18" charset="0"/>
            </a:endParaRPr>
          </a:p>
        </p:txBody>
      </p:sp>
      <p:sp>
        <p:nvSpPr>
          <p:cNvPr id="112" name="Rectangle: Rounded Corners 111">
            <a:extLst>
              <a:ext uri="{FF2B5EF4-FFF2-40B4-BE49-F238E27FC236}">
                <a16:creationId xmlns:a16="http://schemas.microsoft.com/office/drawing/2014/main" id="{6A605D94-4E73-4906-C9C3-64D8D3A1FE93}"/>
              </a:ext>
            </a:extLst>
          </p:cNvPr>
          <p:cNvSpPr/>
          <p:nvPr/>
        </p:nvSpPr>
        <p:spPr>
          <a:xfrm>
            <a:off x="10213501" y="5830046"/>
            <a:ext cx="1543069" cy="4028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Non-sarcastic</a:t>
            </a:r>
            <a:endParaRPr lang="en-IN" dirty="0">
              <a:latin typeface="Times New Roman" panose="02020603050405020304" pitchFamily="18" charset="0"/>
              <a:cs typeface="Times New Roman" panose="02020603050405020304" pitchFamily="18" charset="0"/>
            </a:endParaRPr>
          </a:p>
        </p:txBody>
      </p:sp>
      <p:sp>
        <p:nvSpPr>
          <p:cNvPr id="117" name="Rectangle: Rounded Corners 116">
            <a:extLst>
              <a:ext uri="{FF2B5EF4-FFF2-40B4-BE49-F238E27FC236}">
                <a16:creationId xmlns:a16="http://schemas.microsoft.com/office/drawing/2014/main" id="{72D6386B-F5FC-BBE5-FF31-8E254239382B}"/>
              </a:ext>
            </a:extLst>
          </p:cNvPr>
          <p:cNvSpPr/>
          <p:nvPr/>
        </p:nvSpPr>
        <p:spPr>
          <a:xfrm>
            <a:off x="438395" y="102482"/>
            <a:ext cx="1909095" cy="527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News Headlines</a:t>
            </a:r>
            <a:endParaRPr lang="en-IN" dirty="0">
              <a:latin typeface="Times New Roman" panose="02020603050405020304" pitchFamily="18" charset="0"/>
              <a:cs typeface="Times New Roman" panose="02020603050405020304" pitchFamily="18" charset="0"/>
            </a:endParaRPr>
          </a:p>
        </p:txBody>
      </p:sp>
      <p:sp>
        <p:nvSpPr>
          <p:cNvPr id="156" name="Oval 155">
            <a:extLst>
              <a:ext uri="{FF2B5EF4-FFF2-40B4-BE49-F238E27FC236}">
                <a16:creationId xmlns:a16="http://schemas.microsoft.com/office/drawing/2014/main" id="{94D0F699-6BCE-DC23-6D30-B986F7E41DBC}"/>
              </a:ext>
            </a:extLst>
          </p:cNvPr>
          <p:cNvSpPr/>
          <p:nvPr/>
        </p:nvSpPr>
        <p:spPr>
          <a:xfrm>
            <a:off x="2842902" y="918456"/>
            <a:ext cx="2666081" cy="637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Data Augmentation</a:t>
            </a:r>
            <a:endParaRPr lang="en-IN" dirty="0">
              <a:latin typeface="Times New Roman" panose="02020603050405020304" pitchFamily="18" charset="0"/>
              <a:cs typeface="Times New Roman" panose="02020603050405020304" pitchFamily="18" charset="0"/>
            </a:endParaRPr>
          </a:p>
        </p:txBody>
      </p:sp>
      <p:cxnSp>
        <p:nvCxnSpPr>
          <p:cNvPr id="190" name="Straight Arrow Connector 189">
            <a:extLst>
              <a:ext uri="{FF2B5EF4-FFF2-40B4-BE49-F238E27FC236}">
                <a16:creationId xmlns:a16="http://schemas.microsoft.com/office/drawing/2014/main" id="{A43F48B2-9D65-BF02-2FAE-F6A05BA86D39}"/>
              </a:ext>
            </a:extLst>
          </p:cNvPr>
          <p:cNvCxnSpPr>
            <a:cxnSpLocks/>
          </p:cNvCxnSpPr>
          <p:nvPr/>
        </p:nvCxnSpPr>
        <p:spPr>
          <a:xfrm>
            <a:off x="8103681" y="2265999"/>
            <a:ext cx="0" cy="34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4173FA00-90D7-5169-4458-7DDB2638BCAE}"/>
              </a:ext>
            </a:extLst>
          </p:cNvPr>
          <p:cNvCxnSpPr>
            <a:cxnSpLocks/>
            <a:stCxn id="83" idx="6"/>
          </p:cNvCxnSpPr>
          <p:nvPr/>
        </p:nvCxnSpPr>
        <p:spPr>
          <a:xfrm flipV="1">
            <a:off x="6152735" y="4934251"/>
            <a:ext cx="976740" cy="11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3" name="Rectangle: Rounded Corners 212">
            <a:extLst>
              <a:ext uri="{FF2B5EF4-FFF2-40B4-BE49-F238E27FC236}">
                <a16:creationId xmlns:a16="http://schemas.microsoft.com/office/drawing/2014/main" id="{55D53A20-73FC-89B1-9F3A-92ED39C3EAFD}"/>
              </a:ext>
            </a:extLst>
          </p:cNvPr>
          <p:cNvSpPr/>
          <p:nvPr/>
        </p:nvSpPr>
        <p:spPr>
          <a:xfrm>
            <a:off x="5745662" y="400224"/>
            <a:ext cx="3387900" cy="2602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DATA PREPROCESSING</a:t>
            </a:r>
          </a:p>
        </p:txBody>
      </p:sp>
      <p:cxnSp>
        <p:nvCxnSpPr>
          <p:cNvPr id="215" name="Straight Arrow Connector 214">
            <a:extLst>
              <a:ext uri="{FF2B5EF4-FFF2-40B4-BE49-F238E27FC236}">
                <a16:creationId xmlns:a16="http://schemas.microsoft.com/office/drawing/2014/main" id="{D0B31935-12E7-274A-0CC0-B29C9157B8EB}"/>
              </a:ext>
            </a:extLst>
          </p:cNvPr>
          <p:cNvCxnSpPr>
            <a:stCxn id="117" idx="2"/>
            <a:endCxn id="4" idx="0"/>
          </p:cNvCxnSpPr>
          <p:nvPr/>
        </p:nvCxnSpPr>
        <p:spPr>
          <a:xfrm>
            <a:off x="1392943" y="629927"/>
            <a:ext cx="274" cy="371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AB42199C-A1B0-D68B-21E9-487E873767EB}"/>
              </a:ext>
            </a:extLst>
          </p:cNvPr>
          <p:cNvCxnSpPr>
            <a:stCxn id="4" idx="3"/>
          </p:cNvCxnSpPr>
          <p:nvPr/>
        </p:nvCxnSpPr>
        <p:spPr>
          <a:xfrm flipV="1">
            <a:off x="2249527" y="1172531"/>
            <a:ext cx="52193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a:extLst>
              <a:ext uri="{FF2B5EF4-FFF2-40B4-BE49-F238E27FC236}">
                <a16:creationId xmlns:a16="http://schemas.microsoft.com/office/drawing/2014/main" id="{3E9326FE-F206-CF7D-95BA-E47C1B4558A9}"/>
              </a:ext>
            </a:extLst>
          </p:cNvPr>
          <p:cNvCxnSpPr>
            <a:cxnSpLocks/>
          </p:cNvCxnSpPr>
          <p:nvPr/>
        </p:nvCxnSpPr>
        <p:spPr>
          <a:xfrm flipH="1">
            <a:off x="8126445" y="3037524"/>
            <a:ext cx="1" cy="257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76AB6B9A-2768-9CDF-6222-EE6B02B881E3}"/>
              </a:ext>
            </a:extLst>
          </p:cNvPr>
          <p:cNvCxnSpPr>
            <a:cxnSpLocks/>
            <a:stCxn id="205" idx="3"/>
          </p:cNvCxnSpPr>
          <p:nvPr/>
        </p:nvCxnSpPr>
        <p:spPr>
          <a:xfrm>
            <a:off x="9201648" y="5618968"/>
            <a:ext cx="5110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69044676-A4B3-9411-0BA8-EDDBE56DA59F}"/>
              </a:ext>
            </a:extLst>
          </p:cNvPr>
          <p:cNvCxnSpPr>
            <a:cxnSpLocks/>
          </p:cNvCxnSpPr>
          <p:nvPr/>
        </p:nvCxnSpPr>
        <p:spPr>
          <a:xfrm>
            <a:off x="9712700" y="5206489"/>
            <a:ext cx="0" cy="8249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8" name="Straight Arrow Connector 227">
            <a:extLst>
              <a:ext uri="{FF2B5EF4-FFF2-40B4-BE49-F238E27FC236}">
                <a16:creationId xmlns:a16="http://schemas.microsoft.com/office/drawing/2014/main" id="{33F7F5B8-CABE-C8E1-16CF-BB0B1BAB9167}"/>
              </a:ext>
            </a:extLst>
          </p:cNvPr>
          <p:cNvCxnSpPr>
            <a:endCxn id="111" idx="1"/>
          </p:cNvCxnSpPr>
          <p:nvPr/>
        </p:nvCxnSpPr>
        <p:spPr>
          <a:xfrm>
            <a:off x="9712700" y="5206489"/>
            <a:ext cx="5008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F2625171-81E1-4B81-37E3-D148D643EF2A}"/>
              </a:ext>
            </a:extLst>
          </p:cNvPr>
          <p:cNvCxnSpPr/>
          <p:nvPr/>
        </p:nvCxnSpPr>
        <p:spPr>
          <a:xfrm>
            <a:off x="9712700" y="6031447"/>
            <a:ext cx="5008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2" name="Straight Arrow Connector 231">
            <a:extLst>
              <a:ext uri="{FF2B5EF4-FFF2-40B4-BE49-F238E27FC236}">
                <a16:creationId xmlns:a16="http://schemas.microsoft.com/office/drawing/2014/main" id="{11DB3F80-D507-F755-D87B-0CA95994305B}"/>
              </a:ext>
            </a:extLst>
          </p:cNvPr>
          <p:cNvCxnSpPr/>
          <p:nvPr/>
        </p:nvCxnSpPr>
        <p:spPr>
          <a:xfrm>
            <a:off x="8103681" y="3787477"/>
            <a:ext cx="0" cy="324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28A32708-AF39-4960-1651-F66B601319A8}"/>
              </a:ext>
            </a:extLst>
          </p:cNvPr>
          <p:cNvCxnSpPr/>
          <p:nvPr/>
        </p:nvCxnSpPr>
        <p:spPr>
          <a:xfrm>
            <a:off x="8103681" y="4514492"/>
            <a:ext cx="0" cy="263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id="{61EF5C0F-3EF3-F890-0EA9-CDF7F3A6E5F5}"/>
              </a:ext>
            </a:extLst>
          </p:cNvPr>
          <p:cNvCxnSpPr>
            <a:cxnSpLocks/>
          </p:cNvCxnSpPr>
          <p:nvPr/>
        </p:nvCxnSpPr>
        <p:spPr>
          <a:xfrm>
            <a:off x="8103681" y="5181018"/>
            <a:ext cx="0" cy="22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3" name="Oval 242">
            <a:extLst>
              <a:ext uri="{FF2B5EF4-FFF2-40B4-BE49-F238E27FC236}">
                <a16:creationId xmlns:a16="http://schemas.microsoft.com/office/drawing/2014/main" id="{3167A0D1-EDF0-49A6-4CCE-C79412F428C2}"/>
              </a:ext>
            </a:extLst>
          </p:cNvPr>
          <p:cNvSpPr/>
          <p:nvPr/>
        </p:nvSpPr>
        <p:spPr>
          <a:xfrm>
            <a:off x="7018245" y="3301611"/>
            <a:ext cx="2282807" cy="4700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Pooled Output</a:t>
            </a:r>
          </a:p>
        </p:txBody>
      </p:sp>
      <p:cxnSp>
        <p:nvCxnSpPr>
          <p:cNvPr id="251" name="Straight Arrow Connector 250">
            <a:extLst>
              <a:ext uri="{FF2B5EF4-FFF2-40B4-BE49-F238E27FC236}">
                <a16:creationId xmlns:a16="http://schemas.microsoft.com/office/drawing/2014/main" id="{B13B8B64-924E-9805-BE17-74D4D141DD2E}"/>
              </a:ext>
            </a:extLst>
          </p:cNvPr>
          <p:cNvCxnSpPr>
            <a:cxnSpLocks/>
          </p:cNvCxnSpPr>
          <p:nvPr/>
        </p:nvCxnSpPr>
        <p:spPr>
          <a:xfrm>
            <a:off x="6152735" y="5650775"/>
            <a:ext cx="11066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7" name="Straight Arrow Connector 256">
            <a:extLst>
              <a:ext uri="{FF2B5EF4-FFF2-40B4-BE49-F238E27FC236}">
                <a16:creationId xmlns:a16="http://schemas.microsoft.com/office/drawing/2014/main" id="{ECDEB6E3-F30C-1082-478B-2067E203BE75}"/>
              </a:ext>
            </a:extLst>
          </p:cNvPr>
          <p:cNvCxnSpPr>
            <a:cxnSpLocks/>
          </p:cNvCxnSpPr>
          <p:nvPr/>
        </p:nvCxnSpPr>
        <p:spPr>
          <a:xfrm>
            <a:off x="5508983" y="1235700"/>
            <a:ext cx="4407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8" name="Rectangle: Rounded Corners 267">
            <a:extLst>
              <a:ext uri="{FF2B5EF4-FFF2-40B4-BE49-F238E27FC236}">
                <a16:creationId xmlns:a16="http://schemas.microsoft.com/office/drawing/2014/main" id="{216FC2E2-FCD7-4927-4570-458045884045}"/>
              </a:ext>
            </a:extLst>
          </p:cNvPr>
          <p:cNvSpPr/>
          <p:nvPr/>
        </p:nvSpPr>
        <p:spPr>
          <a:xfrm>
            <a:off x="3215960" y="6416854"/>
            <a:ext cx="6624734" cy="41648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Workflow of Proposed Model(ADN-BERT)</a:t>
            </a:r>
          </a:p>
        </p:txBody>
      </p:sp>
      <p:sp>
        <p:nvSpPr>
          <p:cNvPr id="270" name="Rectangle: Rounded Corners 269">
            <a:extLst>
              <a:ext uri="{FF2B5EF4-FFF2-40B4-BE49-F238E27FC236}">
                <a16:creationId xmlns:a16="http://schemas.microsoft.com/office/drawing/2014/main" id="{34ABB1EF-EDD7-0BE9-A2A0-2C4A57E7315B}"/>
              </a:ext>
            </a:extLst>
          </p:cNvPr>
          <p:cNvSpPr/>
          <p:nvPr/>
        </p:nvSpPr>
        <p:spPr>
          <a:xfrm>
            <a:off x="7524346" y="1720916"/>
            <a:ext cx="1767230" cy="4726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Input _</a:t>
            </a:r>
            <a:r>
              <a:rPr lang="en-US" dirty="0" err="1">
                <a:latin typeface="Times New Roman" panose="02020603050405020304" pitchFamily="18" charset="0"/>
                <a:cs typeface="Times New Roman" panose="02020603050405020304" pitchFamily="18" charset="0"/>
              </a:rPr>
              <a:t>type_ids</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cxnSp>
        <p:nvCxnSpPr>
          <p:cNvPr id="272" name="Straight Arrow Connector 271">
            <a:extLst>
              <a:ext uri="{FF2B5EF4-FFF2-40B4-BE49-F238E27FC236}">
                <a16:creationId xmlns:a16="http://schemas.microsoft.com/office/drawing/2014/main" id="{5161B649-BB69-1B5A-FB84-5EA322FB1127}"/>
              </a:ext>
            </a:extLst>
          </p:cNvPr>
          <p:cNvCxnSpPr>
            <a:cxnSpLocks/>
          </p:cNvCxnSpPr>
          <p:nvPr/>
        </p:nvCxnSpPr>
        <p:spPr>
          <a:xfrm flipH="1">
            <a:off x="7191108" y="1491904"/>
            <a:ext cx="878153" cy="238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6F2EDBC8-B649-F84F-75C1-366045B74988}"/>
              </a:ext>
            </a:extLst>
          </p:cNvPr>
          <p:cNvCxnSpPr/>
          <p:nvPr/>
        </p:nvCxnSpPr>
        <p:spPr>
          <a:xfrm>
            <a:off x="8362027" y="1494418"/>
            <a:ext cx="0" cy="226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88126A47-134E-EDB9-CC05-1498912197F5}"/>
              </a:ext>
            </a:extLst>
          </p:cNvPr>
          <p:cNvCxnSpPr>
            <a:cxnSpLocks/>
          </p:cNvCxnSpPr>
          <p:nvPr/>
        </p:nvCxnSpPr>
        <p:spPr>
          <a:xfrm>
            <a:off x="8672708" y="1478169"/>
            <a:ext cx="944201" cy="252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3375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1B6B-2676-4523-D0DF-81BE6C074655}"/>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Hyper-parameters values</a:t>
            </a:r>
          </a:p>
        </p:txBody>
      </p:sp>
      <p:graphicFrame>
        <p:nvGraphicFramePr>
          <p:cNvPr id="4" name="Table 269">
            <a:extLst>
              <a:ext uri="{FF2B5EF4-FFF2-40B4-BE49-F238E27FC236}">
                <a16:creationId xmlns:a16="http://schemas.microsoft.com/office/drawing/2014/main" id="{35F164D8-B44E-F7C7-C43A-6C2A0D00E4C2}"/>
              </a:ext>
            </a:extLst>
          </p:cNvPr>
          <p:cNvGraphicFramePr>
            <a:graphicFrameLocks noGrp="1"/>
          </p:cNvGraphicFramePr>
          <p:nvPr>
            <p:ph idx="1"/>
            <p:extLst>
              <p:ext uri="{D42A27DB-BD31-4B8C-83A1-F6EECF244321}">
                <p14:modId xmlns:p14="http://schemas.microsoft.com/office/powerpoint/2010/main" val="2016269833"/>
              </p:ext>
            </p:extLst>
          </p:nvPr>
        </p:nvGraphicFramePr>
        <p:xfrm>
          <a:off x="2698518" y="2068220"/>
          <a:ext cx="6529458" cy="3810065"/>
        </p:xfrm>
        <a:graphic>
          <a:graphicData uri="http://schemas.openxmlformats.org/drawingml/2006/table">
            <a:tbl>
              <a:tblPr firstRow="1" bandRow="1">
                <a:tableStyleId>{5C22544A-7EE6-4342-B048-85BDC9FD1C3A}</a:tableStyleId>
              </a:tblPr>
              <a:tblGrid>
                <a:gridCol w="3264729">
                  <a:extLst>
                    <a:ext uri="{9D8B030D-6E8A-4147-A177-3AD203B41FA5}">
                      <a16:colId xmlns:a16="http://schemas.microsoft.com/office/drawing/2014/main" val="1340834532"/>
                    </a:ext>
                  </a:extLst>
                </a:gridCol>
                <a:gridCol w="3264729">
                  <a:extLst>
                    <a:ext uri="{9D8B030D-6E8A-4147-A177-3AD203B41FA5}">
                      <a16:colId xmlns:a16="http://schemas.microsoft.com/office/drawing/2014/main" val="3133020989"/>
                    </a:ext>
                  </a:extLst>
                </a:gridCol>
              </a:tblGrid>
              <a:tr h="579133">
                <a:tc>
                  <a:txBody>
                    <a:bodyPr/>
                    <a:lstStyle/>
                    <a:p>
                      <a:r>
                        <a:rPr lang="en-IN" dirty="0">
                          <a:solidFill>
                            <a:schemeClr val="bg1"/>
                          </a:solidFill>
                          <a:latin typeface="Times New Roman" panose="02020603050405020304" pitchFamily="18" charset="0"/>
                          <a:cs typeface="Times New Roman" panose="02020603050405020304" pitchFamily="18" charset="0"/>
                        </a:rPr>
                        <a:t>Hyper-parameter Variables</a:t>
                      </a:r>
                    </a:p>
                  </a:txBody>
                  <a:tcPr/>
                </a:tc>
                <a:tc>
                  <a:txBody>
                    <a:bodyPr/>
                    <a:lstStyle/>
                    <a:p>
                      <a:r>
                        <a:rPr lang="en-IN" dirty="0">
                          <a:solidFill>
                            <a:schemeClr val="bg1"/>
                          </a:solidFill>
                          <a:latin typeface="Times New Roman" panose="02020603050405020304" pitchFamily="18" charset="0"/>
                          <a:cs typeface="Times New Roman" panose="02020603050405020304" pitchFamily="18" charset="0"/>
                        </a:rPr>
                        <a:t>Values</a:t>
                      </a:r>
                    </a:p>
                  </a:txBody>
                  <a:tcPr/>
                </a:tc>
                <a:extLst>
                  <a:ext uri="{0D108BD9-81ED-4DB2-BD59-A6C34878D82A}">
                    <a16:rowId xmlns:a16="http://schemas.microsoft.com/office/drawing/2014/main" val="3429336929"/>
                  </a:ext>
                </a:extLst>
              </a:tr>
              <a:tr h="579133">
                <a:tc>
                  <a:txBody>
                    <a:bodyPr/>
                    <a:lstStyle/>
                    <a:p>
                      <a:r>
                        <a:rPr lang="en-IN" dirty="0">
                          <a:solidFill>
                            <a:schemeClr val="tx1"/>
                          </a:solidFill>
                          <a:latin typeface="Times New Roman" panose="02020603050405020304" pitchFamily="18" charset="0"/>
                          <a:cs typeface="Times New Roman" panose="02020603050405020304" pitchFamily="18" charset="0"/>
                        </a:rPr>
                        <a:t>Model</a:t>
                      </a:r>
                    </a:p>
                  </a:txBody>
                  <a:tcPr/>
                </a:tc>
                <a:tc>
                  <a:txBody>
                    <a:bodyPr/>
                    <a:lstStyle/>
                    <a:p>
                      <a:r>
                        <a:rPr lang="en-IN" dirty="0">
                          <a:solidFill>
                            <a:schemeClr val="tx1"/>
                          </a:solidFill>
                          <a:latin typeface="Times New Roman" panose="02020603050405020304" pitchFamily="18" charset="0"/>
                          <a:cs typeface="Times New Roman" panose="02020603050405020304" pitchFamily="18" charset="0"/>
                        </a:rPr>
                        <a:t>BERT base (12 encoders, 12 attention heads, 768 hidden units, 110M parameters)</a:t>
                      </a:r>
                    </a:p>
                  </a:txBody>
                  <a:tcPr/>
                </a:tc>
                <a:extLst>
                  <a:ext uri="{0D108BD9-81ED-4DB2-BD59-A6C34878D82A}">
                    <a16:rowId xmlns:a16="http://schemas.microsoft.com/office/drawing/2014/main" val="3579512358"/>
                  </a:ext>
                </a:extLst>
              </a:tr>
              <a:tr h="579133">
                <a:tc>
                  <a:txBody>
                    <a:bodyPr/>
                    <a:lstStyle/>
                    <a:p>
                      <a:r>
                        <a:rPr lang="en-IN" dirty="0" err="1">
                          <a:solidFill>
                            <a:schemeClr val="tx1"/>
                          </a:solidFill>
                          <a:latin typeface="Times New Roman" panose="02020603050405020304" pitchFamily="18" charset="0"/>
                          <a:cs typeface="Times New Roman" panose="02020603050405020304" pitchFamily="18" charset="0"/>
                        </a:rPr>
                        <a:t>Max_input_length</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dirty="0">
                          <a:solidFill>
                            <a:schemeClr val="tx1"/>
                          </a:solidFill>
                          <a:latin typeface="Times New Roman" panose="02020603050405020304" pitchFamily="18" charset="0"/>
                          <a:cs typeface="Times New Roman" panose="02020603050405020304" pitchFamily="18" charset="0"/>
                        </a:rPr>
                        <a:t>60</a:t>
                      </a:r>
                    </a:p>
                  </a:txBody>
                  <a:tcPr/>
                </a:tc>
                <a:extLst>
                  <a:ext uri="{0D108BD9-81ED-4DB2-BD59-A6C34878D82A}">
                    <a16:rowId xmlns:a16="http://schemas.microsoft.com/office/drawing/2014/main" val="2768176008"/>
                  </a:ext>
                </a:extLst>
              </a:tr>
              <a:tr h="579133">
                <a:tc>
                  <a:txBody>
                    <a:bodyPr/>
                    <a:lstStyle/>
                    <a:p>
                      <a:r>
                        <a:rPr lang="en-IN" dirty="0">
                          <a:solidFill>
                            <a:schemeClr val="tx1"/>
                          </a:solidFill>
                          <a:latin typeface="Times New Roman" panose="02020603050405020304" pitchFamily="18" charset="0"/>
                          <a:cs typeface="Times New Roman" panose="02020603050405020304" pitchFamily="18" charset="0"/>
                        </a:rPr>
                        <a:t>Batch_size</a:t>
                      </a:r>
                    </a:p>
                  </a:txBody>
                  <a:tcPr/>
                </a:tc>
                <a:tc>
                  <a:txBody>
                    <a:bodyPr/>
                    <a:lstStyle/>
                    <a:p>
                      <a:r>
                        <a:rPr lang="en-IN" dirty="0">
                          <a:solidFill>
                            <a:schemeClr val="tx1"/>
                          </a:solidFill>
                          <a:latin typeface="Times New Roman" panose="02020603050405020304" pitchFamily="18" charset="0"/>
                          <a:cs typeface="Times New Roman" panose="02020603050405020304" pitchFamily="18" charset="0"/>
                        </a:rPr>
                        <a:t>32</a:t>
                      </a:r>
                    </a:p>
                  </a:txBody>
                  <a:tcPr/>
                </a:tc>
                <a:extLst>
                  <a:ext uri="{0D108BD9-81ED-4DB2-BD59-A6C34878D82A}">
                    <a16:rowId xmlns:a16="http://schemas.microsoft.com/office/drawing/2014/main" val="813771707"/>
                  </a:ext>
                </a:extLst>
              </a:tr>
              <a:tr h="579133">
                <a:tc>
                  <a:txBody>
                    <a:bodyPr/>
                    <a:lstStyle/>
                    <a:p>
                      <a:r>
                        <a:rPr lang="en-IN" dirty="0">
                          <a:latin typeface="Times New Roman" panose="02020603050405020304" pitchFamily="18" charset="0"/>
                          <a:cs typeface="Times New Roman" panose="02020603050405020304" pitchFamily="18" charset="0"/>
                        </a:rPr>
                        <a:t>Optimizer</a:t>
                      </a:r>
                    </a:p>
                  </a:txBody>
                  <a:tcPr/>
                </a:tc>
                <a:tc>
                  <a:txBody>
                    <a:bodyPr/>
                    <a:lstStyle/>
                    <a:p>
                      <a:r>
                        <a:rPr lang="en-IN" dirty="0">
                          <a:latin typeface="Times New Roman" panose="02020603050405020304" pitchFamily="18" charset="0"/>
                          <a:cs typeface="Times New Roman" panose="02020603050405020304" pitchFamily="18" charset="0"/>
                        </a:rPr>
                        <a:t>Adam</a:t>
                      </a:r>
                    </a:p>
                  </a:txBody>
                  <a:tcPr/>
                </a:tc>
                <a:extLst>
                  <a:ext uri="{0D108BD9-81ED-4DB2-BD59-A6C34878D82A}">
                    <a16:rowId xmlns:a16="http://schemas.microsoft.com/office/drawing/2014/main" val="3575606941"/>
                  </a:ext>
                </a:extLst>
              </a:tr>
              <a:tr h="579133">
                <a:tc>
                  <a:txBody>
                    <a:bodyPr/>
                    <a:lstStyle/>
                    <a:p>
                      <a:r>
                        <a:rPr lang="en-IN" dirty="0">
                          <a:latin typeface="Times New Roman" panose="02020603050405020304" pitchFamily="18" charset="0"/>
                          <a:cs typeface="Times New Roman" panose="02020603050405020304" pitchFamily="18" charset="0"/>
                        </a:rPr>
                        <a:t>Loss Function</a:t>
                      </a:r>
                    </a:p>
                  </a:txBody>
                  <a:tcPr/>
                </a:tc>
                <a:tc>
                  <a:txBody>
                    <a:bodyPr/>
                    <a:lstStyle/>
                    <a:p>
                      <a:r>
                        <a:rPr lang="en-US" sz="1800" kern="1200" dirty="0">
                          <a:solidFill>
                            <a:schemeClr val="dk1"/>
                          </a:solidFill>
                          <a:effectLst/>
                          <a:latin typeface="Times New Roman" panose="02020603050405020304" pitchFamily="18" charset="0"/>
                          <a:ea typeface="+mn-ea"/>
                          <a:cs typeface="Times New Roman" panose="02020603050405020304" pitchFamily="18" charset="0"/>
                        </a:rPr>
                        <a:t>Binary Cross-Entropy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65437928"/>
                  </a:ext>
                </a:extLst>
              </a:tr>
            </a:tbl>
          </a:graphicData>
        </a:graphic>
      </p:graphicFrame>
    </p:spTree>
    <p:extLst>
      <p:ext uri="{BB962C8B-B14F-4D97-AF65-F5344CB8AC3E}">
        <p14:creationId xmlns:p14="http://schemas.microsoft.com/office/powerpoint/2010/main" val="2543946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AD4E1D6-6C54-DC7C-91AE-515631600F97}"/>
              </a:ext>
            </a:extLst>
          </p:cNvPr>
          <p:cNvSpPr/>
          <p:nvPr/>
        </p:nvSpPr>
        <p:spPr>
          <a:xfrm>
            <a:off x="1567546" y="4141219"/>
            <a:ext cx="9627639" cy="2550934"/>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grpSp>
        <p:nvGrpSpPr>
          <p:cNvPr id="11" name="Group 10">
            <a:extLst>
              <a:ext uri="{FF2B5EF4-FFF2-40B4-BE49-F238E27FC236}">
                <a16:creationId xmlns:a16="http://schemas.microsoft.com/office/drawing/2014/main" id="{EF2E4E68-FD9B-A15B-F9DC-027F55F14EC1}"/>
              </a:ext>
            </a:extLst>
          </p:cNvPr>
          <p:cNvGrpSpPr/>
          <p:nvPr/>
        </p:nvGrpSpPr>
        <p:grpSpPr>
          <a:xfrm>
            <a:off x="4382461" y="6361843"/>
            <a:ext cx="3923140" cy="317245"/>
            <a:chOff x="2015412" y="4879906"/>
            <a:chExt cx="4945225" cy="317245"/>
          </a:xfrm>
        </p:grpSpPr>
        <p:sp>
          <p:nvSpPr>
            <p:cNvPr id="4" name="Rectangle 3">
              <a:extLst>
                <a:ext uri="{FF2B5EF4-FFF2-40B4-BE49-F238E27FC236}">
                  <a16:creationId xmlns:a16="http://schemas.microsoft.com/office/drawing/2014/main" id="{FAB0AA7E-A258-D0C8-0520-AD46E1AEFBB4}"/>
                </a:ext>
              </a:extLst>
            </p:cNvPr>
            <p:cNvSpPr/>
            <p:nvPr/>
          </p:nvSpPr>
          <p:spPr>
            <a:xfrm>
              <a:off x="2015412" y="487990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i</a:t>
              </a:r>
            </a:p>
          </p:txBody>
        </p:sp>
        <p:sp>
          <p:nvSpPr>
            <p:cNvPr id="5" name="Rectangle 4">
              <a:extLst>
                <a:ext uri="{FF2B5EF4-FFF2-40B4-BE49-F238E27FC236}">
                  <a16:creationId xmlns:a16="http://schemas.microsoft.com/office/drawing/2014/main" id="{B71503D5-7171-B6FF-1A55-C07104FDFAAF}"/>
                </a:ext>
              </a:extLst>
            </p:cNvPr>
            <p:cNvSpPr/>
            <p:nvPr/>
          </p:nvSpPr>
          <p:spPr>
            <a:xfrm>
              <a:off x="3004457" y="4879910"/>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really</a:t>
              </a:r>
            </a:p>
          </p:txBody>
        </p:sp>
        <p:sp>
          <p:nvSpPr>
            <p:cNvPr id="8" name="Rectangle 7">
              <a:extLst>
                <a:ext uri="{FF2B5EF4-FFF2-40B4-BE49-F238E27FC236}">
                  <a16:creationId xmlns:a16="http://schemas.microsoft.com/office/drawing/2014/main" id="{3FA867BC-6C76-D0FC-8270-96BE307F0690}"/>
                </a:ext>
              </a:extLst>
            </p:cNvPr>
            <p:cNvSpPr/>
            <p:nvPr/>
          </p:nvSpPr>
          <p:spPr>
            <a:xfrm>
              <a:off x="3993502" y="4879909"/>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enjoy</a:t>
              </a:r>
              <a:r>
                <a:rPr lang="en-IN" dirty="0"/>
                <a:t> </a:t>
              </a:r>
            </a:p>
          </p:txBody>
        </p:sp>
        <p:sp>
          <p:nvSpPr>
            <p:cNvPr id="9" name="Rectangle 8">
              <a:extLst>
                <a:ext uri="{FF2B5EF4-FFF2-40B4-BE49-F238E27FC236}">
                  <a16:creationId xmlns:a16="http://schemas.microsoft.com/office/drawing/2014/main" id="{849F020F-61EC-A848-AE0E-AC0F91B0123B}"/>
                </a:ext>
              </a:extLst>
            </p:cNvPr>
            <p:cNvSpPr/>
            <p:nvPr/>
          </p:nvSpPr>
          <p:spPr>
            <a:xfrm>
              <a:off x="4982547" y="4879908"/>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traffic</a:t>
              </a:r>
            </a:p>
          </p:txBody>
        </p:sp>
        <p:sp>
          <p:nvSpPr>
            <p:cNvPr id="10" name="Rectangle 9">
              <a:extLst>
                <a:ext uri="{FF2B5EF4-FFF2-40B4-BE49-F238E27FC236}">
                  <a16:creationId xmlns:a16="http://schemas.microsoft.com/office/drawing/2014/main" id="{F5EAACE5-178C-B2C2-7049-CB550CD43004}"/>
                </a:ext>
              </a:extLst>
            </p:cNvPr>
            <p:cNvSpPr/>
            <p:nvPr/>
          </p:nvSpPr>
          <p:spPr>
            <a:xfrm>
              <a:off x="5971592" y="4879907"/>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jams</a:t>
              </a:r>
            </a:p>
          </p:txBody>
        </p:sp>
      </p:grpSp>
      <p:grpSp>
        <p:nvGrpSpPr>
          <p:cNvPr id="38" name="Group 37">
            <a:extLst>
              <a:ext uri="{FF2B5EF4-FFF2-40B4-BE49-F238E27FC236}">
                <a16:creationId xmlns:a16="http://schemas.microsoft.com/office/drawing/2014/main" id="{F87350B9-FFE6-7606-38D1-8DF9CEEF30AD}"/>
              </a:ext>
            </a:extLst>
          </p:cNvPr>
          <p:cNvGrpSpPr/>
          <p:nvPr/>
        </p:nvGrpSpPr>
        <p:grpSpPr>
          <a:xfrm>
            <a:off x="1623328" y="5367316"/>
            <a:ext cx="8901405" cy="317251"/>
            <a:chOff x="905068" y="4593346"/>
            <a:chExt cx="8901405" cy="317251"/>
          </a:xfrm>
        </p:grpSpPr>
        <p:sp>
          <p:nvSpPr>
            <p:cNvPr id="25" name="Rectangle 24">
              <a:extLst>
                <a:ext uri="{FF2B5EF4-FFF2-40B4-BE49-F238E27FC236}">
                  <a16:creationId xmlns:a16="http://schemas.microsoft.com/office/drawing/2014/main" id="{AFD9B991-A6B8-DCA3-34E1-A951ED21E4E1}"/>
                </a:ext>
              </a:extLst>
            </p:cNvPr>
            <p:cNvSpPr/>
            <p:nvPr/>
          </p:nvSpPr>
          <p:spPr>
            <a:xfrm>
              <a:off x="1894113" y="4593352"/>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146</a:t>
              </a:r>
            </a:p>
          </p:txBody>
        </p:sp>
        <p:sp>
          <p:nvSpPr>
            <p:cNvPr id="26" name="Rectangle 25">
              <a:extLst>
                <a:ext uri="{FF2B5EF4-FFF2-40B4-BE49-F238E27FC236}">
                  <a16:creationId xmlns:a16="http://schemas.microsoft.com/office/drawing/2014/main" id="{519BAD94-7A97-FD51-E3A5-0B819DD8160B}"/>
                </a:ext>
              </a:extLst>
            </p:cNvPr>
            <p:cNvSpPr/>
            <p:nvPr/>
          </p:nvSpPr>
          <p:spPr>
            <a:xfrm>
              <a:off x="2883158" y="459335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1209</a:t>
              </a:r>
            </a:p>
          </p:txBody>
        </p:sp>
        <p:sp>
          <p:nvSpPr>
            <p:cNvPr id="27" name="Rectangle 26">
              <a:extLst>
                <a:ext uri="{FF2B5EF4-FFF2-40B4-BE49-F238E27FC236}">
                  <a16:creationId xmlns:a16="http://schemas.microsoft.com/office/drawing/2014/main" id="{619D0755-3846-CBF1-977B-8FA002887633}"/>
                </a:ext>
              </a:extLst>
            </p:cNvPr>
            <p:cNvSpPr/>
            <p:nvPr/>
          </p:nvSpPr>
          <p:spPr>
            <a:xfrm>
              <a:off x="3872203" y="4593355"/>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5056 </a:t>
              </a:r>
            </a:p>
          </p:txBody>
        </p:sp>
        <p:sp>
          <p:nvSpPr>
            <p:cNvPr id="28" name="Rectangle 27">
              <a:extLst>
                <a:ext uri="{FF2B5EF4-FFF2-40B4-BE49-F238E27FC236}">
                  <a16:creationId xmlns:a16="http://schemas.microsoft.com/office/drawing/2014/main" id="{3C239813-F701-32EA-1836-0B4E3D0ED24A}"/>
                </a:ext>
              </a:extLst>
            </p:cNvPr>
            <p:cNvSpPr/>
            <p:nvPr/>
          </p:nvSpPr>
          <p:spPr>
            <a:xfrm>
              <a:off x="4861248" y="4593354"/>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508</a:t>
              </a:r>
            </a:p>
          </p:txBody>
        </p:sp>
        <p:sp>
          <p:nvSpPr>
            <p:cNvPr id="29" name="Rectangle 28">
              <a:extLst>
                <a:ext uri="{FF2B5EF4-FFF2-40B4-BE49-F238E27FC236}">
                  <a16:creationId xmlns:a16="http://schemas.microsoft.com/office/drawing/2014/main" id="{206F3CA2-7F6B-69F6-633D-9D3412079E5A}"/>
                </a:ext>
              </a:extLst>
            </p:cNvPr>
            <p:cNvSpPr/>
            <p:nvPr/>
          </p:nvSpPr>
          <p:spPr>
            <a:xfrm>
              <a:off x="5850293" y="4593353"/>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3507</a:t>
              </a:r>
            </a:p>
          </p:txBody>
        </p:sp>
        <p:sp>
          <p:nvSpPr>
            <p:cNvPr id="30" name="Rectangle 29">
              <a:extLst>
                <a:ext uri="{FF2B5EF4-FFF2-40B4-BE49-F238E27FC236}">
                  <a16:creationId xmlns:a16="http://schemas.microsoft.com/office/drawing/2014/main" id="{78A4EC88-3719-A2D2-1A5B-AB324C0CC84D}"/>
                </a:ext>
              </a:extLst>
            </p:cNvPr>
            <p:cNvSpPr/>
            <p:nvPr/>
          </p:nvSpPr>
          <p:spPr>
            <a:xfrm>
              <a:off x="905068" y="4593347"/>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101</a:t>
              </a:r>
            </a:p>
          </p:txBody>
        </p:sp>
        <p:sp>
          <p:nvSpPr>
            <p:cNvPr id="31" name="Rectangle 30">
              <a:extLst>
                <a:ext uri="{FF2B5EF4-FFF2-40B4-BE49-F238E27FC236}">
                  <a16:creationId xmlns:a16="http://schemas.microsoft.com/office/drawing/2014/main" id="{ABE11D73-0755-F419-9C48-06959133B6F1}"/>
                </a:ext>
              </a:extLst>
            </p:cNvPr>
            <p:cNvSpPr/>
            <p:nvPr/>
          </p:nvSpPr>
          <p:spPr>
            <a:xfrm>
              <a:off x="6839338" y="4593348"/>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102</a:t>
              </a:r>
            </a:p>
          </p:txBody>
        </p:sp>
        <p:sp>
          <p:nvSpPr>
            <p:cNvPr id="32" name="Rectangle 31">
              <a:extLst>
                <a:ext uri="{FF2B5EF4-FFF2-40B4-BE49-F238E27FC236}">
                  <a16:creationId xmlns:a16="http://schemas.microsoft.com/office/drawing/2014/main" id="{DB144040-D206-369D-FE00-0930FECFE03D}"/>
                </a:ext>
              </a:extLst>
            </p:cNvPr>
            <p:cNvSpPr/>
            <p:nvPr/>
          </p:nvSpPr>
          <p:spPr>
            <a:xfrm>
              <a:off x="7828383" y="4593348"/>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33" name="Rectangle 32">
              <a:extLst>
                <a:ext uri="{FF2B5EF4-FFF2-40B4-BE49-F238E27FC236}">
                  <a16:creationId xmlns:a16="http://schemas.microsoft.com/office/drawing/2014/main" id="{93048F24-0D2E-8132-FB69-ECE322C07977}"/>
                </a:ext>
              </a:extLst>
            </p:cNvPr>
            <p:cNvSpPr/>
            <p:nvPr/>
          </p:nvSpPr>
          <p:spPr>
            <a:xfrm>
              <a:off x="8817428" y="459334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grpSp>
      <p:sp>
        <p:nvSpPr>
          <p:cNvPr id="40" name="Rectangle: Rounded Corners 39">
            <a:extLst>
              <a:ext uri="{FF2B5EF4-FFF2-40B4-BE49-F238E27FC236}">
                <a16:creationId xmlns:a16="http://schemas.microsoft.com/office/drawing/2014/main" id="{778AB8C9-AD7A-1EC4-6EB5-3E6B0B75BE42}"/>
              </a:ext>
            </a:extLst>
          </p:cNvPr>
          <p:cNvSpPr/>
          <p:nvPr/>
        </p:nvSpPr>
        <p:spPr>
          <a:xfrm>
            <a:off x="41987" y="4531850"/>
            <a:ext cx="1469571" cy="1976859"/>
          </a:xfrm>
          <a:prstGeom prst="round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BERT TOKENIZER</a:t>
            </a:r>
          </a:p>
          <a:p>
            <a:pPr algn="ct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(bert -base uncased)</a:t>
            </a:r>
          </a:p>
        </p:txBody>
      </p:sp>
      <p:sp>
        <p:nvSpPr>
          <p:cNvPr id="44" name="Rectangle: Rounded Corners 43">
            <a:extLst>
              <a:ext uri="{FF2B5EF4-FFF2-40B4-BE49-F238E27FC236}">
                <a16:creationId xmlns:a16="http://schemas.microsoft.com/office/drawing/2014/main" id="{D603D36C-5D03-D252-3CF2-88110A38B509}"/>
              </a:ext>
            </a:extLst>
          </p:cNvPr>
          <p:cNvSpPr/>
          <p:nvPr/>
        </p:nvSpPr>
        <p:spPr>
          <a:xfrm>
            <a:off x="1206261" y="1194079"/>
            <a:ext cx="3315841" cy="2550934"/>
          </a:xfrm>
          <a:prstGeom prst="roundRect">
            <a:avLst/>
          </a:prstGeom>
          <a:solidFill>
            <a:schemeClr val="bg2"/>
          </a:solidFill>
          <a:ln>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ln>
                <a:solidFill>
                  <a:schemeClr val="tx1"/>
                </a:solidFill>
              </a:ln>
              <a:solidFill>
                <a:schemeClr val="tx1"/>
              </a:solidFill>
            </a:endParaRPr>
          </a:p>
        </p:txBody>
      </p:sp>
      <p:sp>
        <p:nvSpPr>
          <p:cNvPr id="46" name="Rectangle 45">
            <a:extLst>
              <a:ext uri="{FF2B5EF4-FFF2-40B4-BE49-F238E27FC236}">
                <a16:creationId xmlns:a16="http://schemas.microsoft.com/office/drawing/2014/main" id="{B300C03A-9196-E84B-AC7A-8E87E994A8D7}"/>
              </a:ext>
            </a:extLst>
          </p:cNvPr>
          <p:cNvSpPr/>
          <p:nvPr/>
        </p:nvSpPr>
        <p:spPr>
          <a:xfrm rot="16200000">
            <a:off x="608644" y="2211584"/>
            <a:ext cx="2323324" cy="365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Transformer Encoder</a:t>
            </a:r>
          </a:p>
        </p:txBody>
      </p:sp>
      <p:sp>
        <p:nvSpPr>
          <p:cNvPr id="61" name="Arrow: Right 60">
            <a:extLst>
              <a:ext uri="{FF2B5EF4-FFF2-40B4-BE49-F238E27FC236}">
                <a16:creationId xmlns:a16="http://schemas.microsoft.com/office/drawing/2014/main" id="{A45561EA-B3C7-7140-BBA2-BFC4068B88B4}"/>
              </a:ext>
            </a:extLst>
          </p:cNvPr>
          <p:cNvSpPr/>
          <p:nvPr/>
        </p:nvSpPr>
        <p:spPr>
          <a:xfrm>
            <a:off x="4531382" y="2211760"/>
            <a:ext cx="547018" cy="61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Rectangle: Rounded Corners 61">
            <a:extLst>
              <a:ext uri="{FF2B5EF4-FFF2-40B4-BE49-F238E27FC236}">
                <a16:creationId xmlns:a16="http://schemas.microsoft.com/office/drawing/2014/main" id="{F61A95BA-83CC-9A45-D390-2E6BD3037137}"/>
              </a:ext>
            </a:extLst>
          </p:cNvPr>
          <p:cNvSpPr/>
          <p:nvPr/>
        </p:nvSpPr>
        <p:spPr>
          <a:xfrm>
            <a:off x="5086289" y="1537928"/>
            <a:ext cx="1563331" cy="2020793"/>
          </a:xfrm>
          <a:prstGeom prst="roundRect">
            <a:avLst/>
          </a:prstGeom>
          <a:solidFill>
            <a:schemeClr val="bg2"/>
          </a:solidFill>
          <a:ln>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600" b="1" dirty="0">
                <a:solidFill>
                  <a:schemeClr val="tx1"/>
                </a:solidFill>
                <a:latin typeface="Times New Roman" panose="02020603050405020304" pitchFamily="18" charset="0"/>
                <a:cs typeface="Times New Roman" panose="02020603050405020304" pitchFamily="18" charset="0"/>
              </a:rPr>
              <a:t>Pooled Output</a:t>
            </a:r>
          </a:p>
          <a:p>
            <a:pPr algn="ctr"/>
            <a:r>
              <a:rPr lang="en-IN" sz="1600" dirty="0">
                <a:solidFill>
                  <a:schemeClr val="tx1"/>
                </a:solidFill>
                <a:latin typeface="Times New Roman" panose="02020603050405020304" pitchFamily="18" charset="0"/>
                <a:cs typeface="Times New Roman" panose="02020603050405020304" pitchFamily="18" charset="0"/>
              </a:rPr>
              <a:t>(32, 768)</a:t>
            </a:r>
          </a:p>
          <a:p>
            <a:pPr algn="ctr"/>
            <a:r>
              <a:rPr lang="en-IN" sz="1600" dirty="0">
                <a:solidFill>
                  <a:schemeClr val="tx1"/>
                </a:solidFill>
                <a:latin typeface="Times New Roman" panose="02020603050405020304" pitchFamily="18" charset="0"/>
                <a:cs typeface="Times New Roman" panose="02020603050405020304" pitchFamily="18" charset="0"/>
              </a:rPr>
              <a:t>(batch_size, hidden units)</a:t>
            </a:r>
          </a:p>
        </p:txBody>
      </p:sp>
      <p:sp>
        <p:nvSpPr>
          <p:cNvPr id="64" name="Arrow: Right 63">
            <a:extLst>
              <a:ext uri="{FF2B5EF4-FFF2-40B4-BE49-F238E27FC236}">
                <a16:creationId xmlns:a16="http://schemas.microsoft.com/office/drawing/2014/main" id="{44124C92-6B5A-A839-7807-D7798ED31FE9}"/>
              </a:ext>
            </a:extLst>
          </p:cNvPr>
          <p:cNvSpPr/>
          <p:nvPr/>
        </p:nvSpPr>
        <p:spPr>
          <a:xfrm>
            <a:off x="6668179" y="2242647"/>
            <a:ext cx="613101" cy="61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Rectangle: Rounded Corners 64">
            <a:extLst>
              <a:ext uri="{FF2B5EF4-FFF2-40B4-BE49-F238E27FC236}">
                <a16:creationId xmlns:a16="http://schemas.microsoft.com/office/drawing/2014/main" id="{7D229568-F1A1-0B45-3C57-9A8EAA9431E2}"/>
              </a:ext>
            </a:extLst>
          </p:cNvPr>
          <p:cNvSpPr/>
          <p:nvPr/>
        </p:nvSpPr>
        <p:spPr>
          <a:xfrm>
            <a:off x="41987" y="1458599"/>
            <a:ext cx="1136787" cy="1695148"/>
          </a:xfrm>
          <a:prstGeom prst="round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BERT MODEL</a:t>
            </a:r>
          </a:p>
        </p:txBody>
      </p:sp>
      <p:sp>
        <p:nvSpPr>
          <p:cNvPr id="66" name="Oval 65">
            <a:extLst>
              <a:ext uri="{FF2B5EF4-FFF2-40B4-BE49-F238E27FC236}">
                <a16:creationId xmlns:a16="http://schemas.microsoft.com/office/drawing/2014/main" id="{0B858BDD-936C-FB13-85BA-5D26EEFD4557}"/>
              </a:ext>
            </a:extLst>
          </p:cNvPr>
          <p:cNvSpPr/>
          <p:nvPr/>
        </p:nvSpPr>
        <p:spPr>
          <a:xfrm>
            <a:off x="3935753" y="912299"/>
            <a:ext cx="446708" cy="2797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12</a:t>
            </a:r>
          </a:p>
        </p:txBody>
      </p:sp>
      <p:sp>
        <p:nvSpPr>
          <p:cNvPr id="67" name="Oval 66">
            <a:extLst>
              <a:ext uri="{FF2B5EF4-FFF2-40B4-BE49-F238E27FC236}">
                <a16:creationId xmlns:a16="http://schemas.microsoft.com/office/drawing/2014/main" id="{40F2BC79-736A-333D-EB23-A4FB4F073098}"/>
              </a:ext>
            </a:extLst>
          </p:cNvPr>
          <p:cNvSpPr/>
          <p:nvPr/>
        </p:nvSpPr>
        <p:spPr>
          <a:xfrm>
            <a:off x="1493644" y="905769"/>
            <a:ext cx="446708" cy="2797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1</a:t>
            </a:r>
          </a:p>
        </p:txBody>
      </p:sp>
      <p:sp>
        <p:nvSpPr>
          <p:cNvPr id="68" name="Oval 67">
            <a:extLst>
              <a:ext uri="{FF2B5EF4-FFF2-40B4-BE49-F238E27FC236}">
                <a16:creationId xmlns:a16="http://schemas.microsoft.com/office/drawing/2014/main" id="{414BEC75-87FB-0680-1A5E-4A375A57AEAA}"/>
              </a:ext>
            </a:extLst>
          </p:cNvPr>
          <p:cNvSpPr/>
          <p:nvPr/>
        </p:nvSpPr>
        <p:spPr>
          <a:xfrm>
            <a:off x="2752975" y="910229"/>
            <a:ext cx="446708" cy="2797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3</a:t>
            </a:r>
          </a:p>
        </p:txBody>
      </p:sp>
      <p:sp>
        <p:nvSpPr>
          <p:cNvPr id="69" name="Oval 68">
            <a:extLst>
              <a:ext uri="{FF2B5EF4-FFF2-40B4-BE49-F238E27FC236}">
                <a16:creationId xmlns:a16="http://schemas.microsoft.com/office/drawing/2014/main" id="{0E2AB655-8AAB-E845-B0CA-BE811716C64A}"/>
              </a:ext>
            </a:extLst>
          </p:cNvPr>
          <p:cNvSpPr/>
          <p:nvPr/>
        </p:nvSpPr>
        <p:spPr>
          <a:xfrm>
            <a:off x="2125638" y="901908"/>
            <a:ext cx="446708" cy="2797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2</a:t>
            </a:r>
          </a:p>
        </p:txBody>
      </p:sp>
      <p:grpSp>
        <p:nvGrpSpPr>
          <p:cNvPr id="72" name="Group 71">
            <a:extLst>
              <a:ext uri="{FF2B5EF4-FFF2-40B4-BE49-F238E27FC236}">
                <a16:creationId xmlns:a16="http://schemas.microsoft.com/office/drawing/2014/main" id="{6F676228-B480-6809-4B6D-350478292F5B}"/>
              </a:ext>
            </a:extLst>
          </p:cNvPr>
          <p:cNvGrpSpPr/>
          <p:nvPr/>
        </p:nvGrpSpPr>
        <p:grpSpPr>
          <a:xfrm>
            <a:off x="1623328" y="5863514"/>
            <a:ext cx="8901405" cy="319925"/>
            <a:chOff x="1026366" y="4333890"/>
            <a:chExt cx="8901405" cy="319925"/>
          </a:xfrm>
        </p:grpSpPr>
        <p:sp>
          <p:nvSpPr>
            <p:cNvPr id="73" name="Rectangle 72">
              <a:extLst>
                <a:ext uri="{FF2B5EF4-FFF2-40B4-BE49-F238E27FC236}">
                  <a16:creationId xmlns:a16="http://schemas.microsoft.com/office/drawing/2014/main" id="{15DEC4E3-FF5B-E0F1-5309-65743316D1CD}"/>
                </a:ext>
              </a:extLst>
            </p:cNvPr>
            <p:cNvSpPr/>
            <p:nvPr/>
          </p:nvSpPr>
          <p:spPr>
            <a:xfrm>
              <a:off x="2015411" y="4336570"/>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I</a:t>
              </a:r>
            </a:p>
          </p:txBody>
        </p:sp>
        <p:sp>
          <p:nvSpPr>
            <p:cNvPr id="74" name="Rectangle 73">
              <a:extLst>
                <a:ext uri="{FF2B5EF4-FFF2-40B4-BE49-F238E27FC236}">
                  <a16:creationId xmlns:a16="http://schemas.microsoft.com/office/drawing/2014/main" id="{B4475B15-009A-E2B9-64D7-4486E6EA2C52}"/>
                </a:ext>
              </a:extLst>
            </p:cNvPr>
            <p:cNvSpPr/>
            <p:nvPr/>
          </p:nvSpPr>
          <p:spPr>
            <a:xfrm>
              <a:off x="3004456" y="4336574"/>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really</a:t>
              </a:r>
            </a:p>
          </p:txBody>
        </p:sp>
        <p:sp>
          <p:nvSpPr>
            <p:cNvPr id="75" name="Rectangle 74">
              <a:extLst>
                <a:ext uri="{FF2B5EF4-FFF2-40B4-BE49-F238E27FC236}">
                  <a16:creationId xmlns:a16="http://schemas.microsoft.com/office/drawing/2014/main" id="{C313E229-45E3-48BD-52C4-518D559F6DB5}"/>
                </a:ext>
              </a:extLst>
            </p:cNvPr>
            <p:cNvSpPr/>
            <p:nvPr/>
          </p:nvSpPr>
          <p:spPr>
            <a:xfrm>
              <a:off x="3993501" y="4336567"/>
              <a:ext cx="989045" cy="3172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enjoy</a:t>
              </a:r>
              <a:r>
                <a:rPr lang="en-IN" dirty="0"/>
                <a:t> </a:t>
              </a:r>
            </a:p>
          </p:txBody>
        </p:sp>
        <p:sp>
          <p:nvSpPr>
            <p:cNvPr id="76" name="Rectangle 75">
              <a:extLst>
                <a:ext uri="{FF2B5EF4-FFF2-40B4-BE49-F238E27FC236}">
                  <a16:creationId xmlns:a16="http://schemas.microsoft.com/office/drawing/2014/main" id="{F6297B49-778C-8362-CA2F-530F5CF82881}"/>
                </a:ext>
              </a:extLst>
            </p:cNvPr>
            <p:cNvSpPr/>
            <p:nvPr/>
          </p:nvSpPr>
          <p:spPr>
            <a:xfrm>
              <a:off x="4982546" y="4336572"/>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traffic</a:t>
              </a:r>
            </a:p>
          </p:txBody>
        </p:sp>
        <p:sp>
          <p:nvSpPr>
            <p:cNvPr id="77" name="Rectangle 76">
              <a:extLst>
                <a:ext uri="{FF2B5EF4-FFF2-40B4-BE49-F238E27FC236}">
                  <a16:creationId xmlns:a16="http://schemas.microsoft.com/office/drawing/2014/main" id="{64E498EC-B7E9-4F05-B562-AA33BCF634E1}"/>
                </a:ext>
              </a:extLst>
            </p:cNvPr>
            <p:cNvSpPr/>
            <p:nvPr/>
          </p:nvSpPr>
          <p:spPr>
            <a:xfrm>
              <a:off x="5971591" y="4336571"/>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jams</a:t>
              </a:r>
            </a:p>
          </p:txBody>
        </p:sp>
        <p:sp>
          <p:nvSpPr>
            <p:cNvPr id="78" name="Rectangle 77">
              <a:extLst>
                <a:ext uri="{FF2B5EF4-FFF2-40B4-BE49-F238E27FC236}">
                  <a16:creationId xmlns:a16="http://schemas.microsoft.com/office/drawing/2014/main" id="{AD02EEBB-F0C0-3418-6040-23517D281D4E}"/>
                </a:ext>
              </a:extLst>
            </p:cNvPr>
            <p:cNvSpPr/>
            <p:nvPr/>
          </p:nvSpPr>
          <p:spPr>
            <a:xfrm>
              <a:off x="1026366" y="433656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[CLS]</a:t>
              </a:r>
            </a:p>
          </p:txBody>
        </p:sp>
        <p:sp>
          <p:nvSpPr>
            <p:cNvPr id="79" name="Rectangle 78">
              <a:extLst>
                <a:ext uri="{FF2B5EF4-FFF2-40B4-BE49-F238E27FC236}">
                  <a16:creationId xmlns:a16="http://schemas.microsoft.com/office/drawing/2014/main" id="{760399BF-741B-CAF1-2B23-B2513696CE44}"/>
                </a:ext>
              </a:extLst>
            </p:cNvPr>
            <p:cNvSpPr/>
            <p:nvPr/>
          </p:nvSpPr>
          <p:spPr>
            <a:xfrm>
              <a:off x="6960636" y="433656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[SEP]</a:t>
              </a:r>
            </a:p>
          </p:txBody>
        </p:sp>
        <p:sp>
          <p:nvSpPr>
            <p:cNvPr id="80" name="Rectangle 79">
              <a:extLst>
                <a:ext uri="{FF2B5EF4-FFF2-40B4-BE49-F238E27FC236}">
                  <a16:creationId xmlns:a16="http://schemas.microsoft.com/office/drawing/2014/main" id="{99611299-1DC5-D8FD-E56A-9C6307A32FF3}"/>
                </a:ext>
              </a:extLst>
            </p:cNvPr>
            <p:cNvSpPr/>
            <p:nvPr/>
          </p:nvSpPr>
          <p:spPr>
            <a:xfrm>
              <a:off x="7949681" y="433656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[PAD]</a:t>
              </a:r>
            </a:p>
          </p:txBody>
        </p:sp>
        <p:sp>
          <p:nvSpPr>
            <p:cNvPr id="81" name="Rectangle 80">
              <a:extLst>
                <a:ext uri="{FF2B5EF4-FFF2-40B4-BE49-F238E27FC236}">
                  <a16:creationId xmlns:a16="http://schemas.microsoft.com/office/drawing/2014/main" id="{C3541F5E-0177-359F-C3A9-E0E7E572D482}"/>
                </a:ext>
              </a:extLst>
            </p:cNvPr>
            <p:cNvSpPr/>
            <p:nvPr/>
          </p:nvSpPr>
          <p:spPr>
            <a:xfrm>
              <a:off x="8938726" y="4333890"/>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[PAD]</a:t>
              </a:r>
            </a:p>
          </p:txBody>
        </p:sp>
      </p:grpSp>
      <p:sp>
        <p:nvSpPr>
          <p:cNvPr id="92" name="Rectangle: Rounded Corners 91">
            <a:extLst>
              <a:ext uri="{FF2B5EF4-FFF2-40B4-BE49-F238E27FC236}">
                <a16:creationId xmlns:a16="http://schemas.microsoft.com/office/drawing/2014/main" id="{EC8BB0A4-4344-353C-5C50-68D562BB608F}"/>
              </a:ext>
            </a:extLst>
          </p:cNvPr>
          <p:cNvSpPr/>
          <p:nvPr/>
        </p:nvSpPr>
        <p:spPr>
          <a:xfrm>
            <a:off x="7281279" y="1537928"/>
            <a:ext cx="1563331" cy="2011971"/>
          </a:xfrm>
          <a:prstGeom prst="roundRect">
            <a:avLst/>
          </a:prstGeom>
          <a:solidFill>
            <a:schemeClr val="bg2"/>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latin typeface="Times New Roman" panose="02020603050405020304" pitchFamily="18" charset="0"/>
                <a:cs typeface="Times New Roman" panose="02020603050405020304" pitchFamily="18" charset="0"/>
              </a:rPr>
              <a:t>ATTENTION LAYER</a:t>
            </a:r>
          </a:p>
        </p:txBody>
      </p:sp>
      <p:sp>
        <p:nvSpPr>
          <p:cNvPr id="93" name="Arrow: Right 92">
            <a:extLst>
              <a:ext uri="{FF2B5EF4-FFF2-40B4-BE49-F238E27FC236}">
                <a16:creationId xmlns:a16="http://schemas.microsoft.com/office/drawing/2014/main" id="{E6AC5166-DBE6-29A8-B092-BA24038105C9}"/>
              </a:ext>
            </a:extLst>
          </p:cNvPr>
          <p:cNvSpPr/>
          <p:nvPr/>
        </p:nvSpPr>
        <p:spPr>
          <a:xfrm>
            <a:off x="8858712" y="2238235"/>
            <a:ext cx="530605" cy="615765"/>
          </a:xfrm>
          <a:prstGeom prst="rightArrow">
            <a:avLst>
              <a:gd name="adj1" fmla="val 50000"/>
              <a:gd name="adj2" fmla="val 479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4" name="Rectangle: Rounded Corners 93">
            <a:extLst>
              <a:ext uri="{FF2B5EF4-FFF2-40B4-BE49-F238E27FC236}">
                <a16:creationId xmlns:a16="http://schemas.microsoft.com/office/drawing/2014/main" id="{CFAFFF57-709F-3B46-A054-8F99165241A6}"/>
              </a:ext>
            </a:extLst>
          </p:cNvPr>
          <p:cNvSpPr/>
          <p:nvPr/>
        </p:nvSpPr>
        <p:spPr>
          <a:xfrm>
            <a:off x="10956953" y="1714854"/>
            <a:ext cx="1190449" cy="1516063"/>
          </a:xfrm>
          <a:prstGeom prst="round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latin typeface="Times New Roman" panose="02020603050405020304" pitchFamily="18" charset="0"/>
                <a:cs typeface="Times New Roman" panose="02020603050405020304" pitchFamily="18" charset="0"/>
              </a:rPr>
              <a:t>OUTPUT LAYER</a:t>
            </a:r>
          </a:p>
        </p:txBody>
      </p:sp>
      <p:sp>
        <p:nvSpPr>
          <p:cNvPr id="98" name="Rectangle: Rounded Corners 97">
            <a:extLst>
              <a:ext uri="{FF2B5EF4-FFF2-40B4-BE49-F238E27FC236}">
                <a16:creationId xmlns:a16="http://schemas.microsoft.com/office/drawing/2014/main" id="{FFFC869B-9CBF-2BF8-83BE-957F5BA1BF8C}"/>
              </a:ext>
            </a:extLst>
          </p:cNvPr>
          <p:cNvSpPr/>
          <p:nvPr/>
        </p:nvSpPr>
        <p:spPr>
          <a:xfrm>
            <a:off x="9403418" y="1732846"/>
            <a:ext cx="1071583" cy="1498071"/>
          </a:xfrm>
          <a:prstGeom prst="round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latin typeface="Times New Roman" panose="02020603050405020304" pitchFamily="18" charset="0"/>
                <a:cs typeface="Times New Roman" panose="02020603050405020304" pitchFamily="18" charset="0"/>
              </a:rPr>
              <a:t>DENSE LAYER</a:t>
            </a:r>
          </a:p>
        </p:txBody>
      </p:sp>
      <p:sp>
        <p:nvSpPr>
          <p:cNvPr id="99" name="Arrow: Right 98">
            <a:extLst>
              <a:ext uri="{FF2B5EF4-FFF2-40B4-BE49-F238E27FC236}">
                <a16:creationId xmlns:a16="http://schemas.microsoft.com/office/drawing/2014/main" id="{2463128E-E521-F7CD-20B3-9649EAE1BD41}"/>
              </a:ext>
            </a:extLst>
          </p:cNvPr>
          <p:cNvSpPr/>
          <p:nvPr/>
        </p:nvSpPr>
        <p:spPr>
          <a:xfrm>
            <a:off x="10489102" y="2189590"/>
            <a:ext cx="467851" cy="61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00" name="Group 99">
            <a:extLst>
              <a:ext uri="{FF2B5EF4-FFF2-40B4-BE49-F238E27FC236}">
                <a16:creationId xmlns:a16="http://schemas.microsoft.com/office/drawing/2014/main" id="{AD8CB224-E408-E926-F1AD-D7ABF3FF2AE0}"/>
              </a:ext>
            </a:extLst>
          </p:cNvPr>
          <p:cNvGrpSpPr/>
          <p:nvPr/>
        </p:nvGrpSpPr>
        <p:grpSpPr>
          <a:xfrm>
            <a:off x="1623328" y="4851962"/>
            <a:ext cx="8901405" cy="317251"/>
            <a:chOff x="905068" y="4593346"/>
            <a:chExt cx="8901405" cy="317251"/>
          </a:xfrm>
        </p:grpSpPr>
        <p:sp>
          <p:nvSpPr>
            <p:cNvPr id="101" name="Rectangle 100">
              <a:extLst>
                <a:ext uri="{FF2B5EF4-FFF2-40B4-BE49-F238E27FC236}">
                  <a16:creationId xmlns:a16="http://schemas.microsoft.com/office/drawing/2014/main" id="{80D0A0AC-905E-01E4-CDF3-03311CD5A721}"/>
                </a:ext>
              </a:extLst>
            </p:cNvPr>
            <p:cNvSpPr/>
            <p:nvPr/>
          </p:nvSpPr>
          <p:spPr>
            <a:xfrm>
              <a:off x="1894113" y="4593352"/>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2" name="Rectangle 101">
              <a:extLst>
                <a:ext uri="{FF2B5EF4-FFF2-40B4-BE49-F238E27FC236}">
                  <a16:creationId xmlns:a16="http://schemas.microsoft.com/office/drawing/2014/main" id="{3654C354-41FF-1F43-D380-0AA3CC67F1D7}"/>
                </a:ext>
              </a:extLst>
            </p:cNvPr>
            <p:cNvSpPr/>
            <p:nvPr/>
          </p:nvSpPr>
          <p:spPr>
            <a:xfrm>
              <a:off x="2883158" y="459335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3" name="Rectangle 102">
              <a:extLst>
                <a:ext uri="{FF2B5EF4-FFF2-40B4-BE49-F238E27FC236}">
                  <a16:creationId xmlns:a16="http://schemas.microsoft.com/office/drawing/2014/main" id="{D54B7933-54CE-8174-6482-388EABC4EA2F}"/>
                </a:ext>
              </a:extLst>
            </p:cNvPr>
            <p:cNvSpPr/>
            <p:nvPr/>
          </p:nvSpPr>
          <p:spPr>
            <a:xfrm>
              <a:off x="3872203" y="4593355"/>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 </a:t>
              </a:r>
            </a:p>
          </p:txBody>
        </p:sp>
        <p:sp>
          <p:nvSpPr>
            <p:cNvPr id="104" name="Rectangle 103">
              <a:extLst>
                <a:ext uri="{FF2B5EF4-FFF2-40B4-BE49-F238E27FC236}">
                  <a16:creationId xmlns:a16="http://schemas.microsoft.com/office/drawing/2014/main" id="{0BD704DC-E06A-B636-2D11-750DD008C6BA}"/>
                </a:ext>
              </a:extLst>
            </p:cNvPr>
            <p:cNvSpPr/>
            <p:nvPr/>
          </p:nvSpPr>
          <p:spPr>
            <a:xfrm>
              <a:off x="4861248" y="4593354"/>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5" name="Rectangle 104">
              <a:extLst>
                <a:ext uri="{FF2B5EF4-FFF2-40B4-BE49-F238E27FC236}">
                  <a16:creationId xmlns:a16="http://schemas.microsoft.com/office/drawing/2014/main" id="{8E590DAD-95B2-F44F-1297-13540508EE40}"/>
                </a:ext>
              </a:extLst>
            </p:cNvPr>
            <p:cNvSpPr/>
            <p:nvPr/>
          </p:nvSpPr>
          <p:spPr>
            <a:xfrm>
              <a:off x="5850293" y="4593353"/>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6" name="Rectangle 105">
              <a:extLst>
                <a:ext uri="{FF2B5EF4-FFF2-40B4-BE49-F238E27FC236}">
                  <a16:creationId xmlns:a16="http://schemas.microsoft.com/office/drawing/2014/main" id="{D90BDEB2-8867-FB4B-3651-9AE816062FDD}"/>
                </a:ext>
              </a:extLst>
            </p:cNvPr>
            <p:cNvSpPr/>
            <p:nvPr/>
          </p:nvSpPr>
          <p:spPr>
            <a:xfrm>
              <a:off x="905068" y="4593347"/>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7" name="Rectangle 106">
              <a:extLst>
                <a:ext uri="{FF2B5EF4-FFF2-40B4-BE49-F238E27FC236}">
                  <a16:creationId xmlns:a16="http://schemas.microsoft.com/office/drawing/2014/main" id="{763F5A12-E372-0DC9-7F99-CE42DD9F94C4}"/>
                </a:ext>
              </a:extLst>
            </p:cNvPr>
            <p:cNvSpPr/>
            <p:nvPr/>
          </p:nvSpPr>
          <p:spPr>
            <a:xfrm>
              <a:off x="6839338" y="4593348"/>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8" name="Rectangle 107">
              <a:extLst>
                <a:ext uri="{FF2B5EF4-FFF2-40B4-BE49-F238E27FC236}">
                  <a16:creationId xmlns:a16="http://schemas.microsoft.com/office/drawing/2014/main" id="{B7A5889F-35B4-BB65-83FF-6F12FD5943F4}"/>
                </a:ext>
              </a:extLst>
            </p:cNvPr>
            <p:cNvSpPr/>
            <p:nvPr/>
          </p:nvSpPr>
          <p:spPr>
            <a:xfrm>
              <a:off x="7828383" y="4593348"/>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09" name="Rectangle 108">
              <a:extLst>
                <a:ext uri="{FF2B5EF4-FFF2-40B4-BE49-F238E27FC236}">
                  <a16:creationId xmlns:a16="http://schemas.microsoft.com/office/drawing/2014/main" id="{BBD37C38-C866-211E-4DE2-061BE7B94A94}"/>
                </a:ext>
              </a:extLst>
            </p:cNvPr>
            <p:cNvSpPr/>
            <p:nvPr/>
          </p:nvSpPr>
          <p:spPr>
            <a:xfrm>
              <a:off x="8817428" y="4593346"/>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grpSp>
      <p:sp>
        <p:nvSpPr>
          <p:cNvPr id="117" name="Rectangle 116">
            <a:extLst>
              <a:ext uri="{FF2B5EF4-FFF2-40B4-BE49-F238E27FC236}">
                <a16:creationId xmlns:a16="http://schemas.microsoft.com/office/drawing/2014/main" id="{571C787E-2ADC-C6DD-C4E3-51619B96C42F}"/>
              </a:ext>
            </a:extLst>
          </p:cNvPr>
          <p:cNvSpPr/>
          <p:nvPr/>
        </p:nvSpPr>
        <p:spPr>
          <a:xfrm rot="16200000">
            <a:off x="1228156" y="2211353"/>
            <a:ext cx="2323324" cy="365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Transformer Encoder</a:t>
            </a:r>
          </a:p>
        </p:txBody>
      </p:sp>
      <p:sp>
        <p:nvSpPr>
          <p:cNvPr id="118" name="Rectangle 117">
            <a:extLst>
              <a:ext uri="{FF2B5EF4-FFF2-40B4-BE49-F238E27FC236}">
                <a16:creationId xmlns:a16="http://schemas.microsoft.com/office/drawing/2014/main" id="{AE081E06-3590-62C1-5C68-9E2AAF8A2AC1}"/>
              </a:ext>
            </a:extLst>
          </p:cNvPr>
          <p:cNvSpPr/>
          <p:nvPr/>
        </p:nvSpPr>
        <p:spPr>
          <a:xfrm rot="16200000">
            <a:off x="1823549" y="2214531"/>
            <a:ext cx="2323324" cy="365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Transformer Encoder</a:t>
            </a:r>
          </a:p>
        </p:txBody>
      </p:sp>
      <p:sp>
        <p:nvSpPr>
          <p:cNvPr id="119" name="Oval 118">
            <a:extLst>
              <a:ext uri="{FF2B5EF4-FFF2-40B4-BE49-F238E27FC236}">
                <a16:creationId xmlns:a16="http://schemas.microsoft.com/office/drawing/2014/main" id="{7173A6BF-FABE-3131-CA01-68D7094D5B71}"/>
              </a:ext>
            </a:extLst>
          </p:cNvPr>
          <p:cNvSpPr/>
          <p:nvPr/>
        </p:nvSpPr>
        <p:spPr>
          <a:xfrm>
            <a:off x="3380312" y="100294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a:extLst>
              <a:ext uri="{FF2B5EF4-FFF2-40B4-BE49-F238E27FC236}">
                <a16:creationId xmlns:a16="http://schemas.microsoft.com/office/drawing/2014/main" id="{FC78B817-94B8-24A2-2A68-829A38163D87}"/>
              </a:ext>
            </a:extLst>
          </p:cNvPr>
          <p:cNvSpPr/>
          <p:nvPr/>
        </p:nvSpPr>
        <p:spPr>
          <a:xfrm flipH="1" flipV="1">
            <a:off x="3620276" y="100294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Oval 120">
            <a:extLst>
              <a:ext uri="{FF2B5EF4-FFF2-40B4-BE49-F238E27FC236}">
                <a16:creationId xmlns:a16="http://schemas.microsoft.com/office/drawing/2014/main" id="{86CE245A-F710-EC1D-9A28-BD50A37BAFCA}"/>
              </a:ext>
            </a:extLst>
          </p:cNvPr>
          <p:cNvSpPr/>
          <p:nvPr/>
        </p:nvSpPr>
        <p:spPr>
          <a:xfrm flipH="1" flipV="1">
            <a:off x="3814521" y="99454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Rectangle 129">
            <a:extLst>
              <a:ext uri="{FF2B5EF4-FFF2-40B4-BE49-F238E27FC236}">
                <a16:creationId xmlns:a16="http://schemas.microsoft.com/office/drawing/2014/main" id="{18007E3A-3B39-1A20-3427-510651EC9476}"/>
              </a:ext>
            </a:extLst>
          </p:cNvPr>
          <p:cNvSpPr/>
          <p:nvPr/>
        </p:nvSpPr>
        <p:spPr>
          <a:xfrm rot="16200000">
            <a:off x="2986305" y="2205709"/>
            <a:ext cx="2323324" cy="365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Transformer Encoder</a:t>
            </a:r>
          </a:p>
        </p:txBody>
      </p:sp>
      <p:sp>
        <p:nvSpPr>
          <p:cNvPr id="131" name="Arrow: Right 130">
            <a:extLst>
              <a:ext uri="{FF2B5EF4-FFF2-40B4-BE49-F238E27FC236}">
                <a16:creationId xmlns:a16="http://schemas.microsoft.com/office/drawing/2014/main" id="{EEA93977-8695-9254-28B4-44BCAFF7D2C2}"/>
              </a:ext>
            </a:extLst>
          </p:cNvPr>
          <p:cNvSpPr/>
          <p:nvPr/>
        </p:nvSpPr>
        <p:spPr>
          <a:xfrm rot="16200000">
            <a:off x="1612180" y="3688856"/>
            <a:ext cx="393027" cy="4822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3" name="Group 152">
            <a:extLst>
              <a:ext uri="{FF2B5EF4-FFF2-40B4-BE49-F238E27FC236}">
                <a16:creationId xmlns:a16="http://schemas.microsoft.com/office/drawing/2014/main" id="{179326BC-CF08-70B5-08F4-F3B2F3DBC943}"/>
              </a:ext>
            </a:extLst>
          </p:cNvPr>
          <p:cNvGrpSpPr/>
          <p:nvPr/>
        </p:nvGrpSpPr>
        <p:grpSpPr>
          <a:xfrm>
            <a:off x="1634151" y="4388595"/>
            <a:ext cx="8909175" cy="317251"/>
            <a:chOff x="1763314" y="4266892"/>
            <a:chExt cx="8909175" cy="317251"/>
          </a:xfrm>
        </p:grpSpPr>
        <p:sp>
          <p:nvSpPr>
            <p:cNvPr id="133" name="Rectangle 132">
              <a:extLst>
                <a:ext uri="{FF2B5EF4-FFF2-40B4-BE49-F238E27FC236}">
                  <a16:creationId xmlns:a16="http://schemas.microsoft.com/office/drawing/2014/main" id="{836BA73D-D20A-098C-B96C-13C2A825D7E4}"/>
                </a:ext>
              </a:extLst>
            </p:cNvPr>
            <p:cNvSpPr/>
            <p:nvPr/>
          </p:nvSpPr>
          <p:spPr>
            <a:xfrm>
              <a:off x="2760129" y="4266898"/>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34" name="Rectangle 133">
              <a:extLst>
                <a:ext uri="{FF2B5EF4-FFF2-40B4-BE49-F238E27FC236}">
                  <a16:creationId xmlns:a16="http://schemas.microsoft.com/office/drawing/2014/main" id="{1A93AEA8-7DDA-332A-BCFD-9960BA4D1206}"/>
                </a:ext>
              </a:extLst>
            </p:cNvPr>
            <p:cNvSpPr/>
            <p:nvPr/>
          </p:nvSpPr>
          <p:spPr>
            <a:xfrm>
              <a:off x="3749174" y="4266902"/>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35" name="Rectangle 134">
              <a:extLst>
                <a:ext uri="{FF2B5EF4-FFF2-40B4-BE49-F238E27FC236}">
                  <a16:creationId xmlns:a16="http://schemas.microsoft.com/office/drawing/2014/main" id="{6124AEB8-C97C-E76F-FDBA-694AD93AA4EB}"/>
                </a:ext>
              </a:extLst>
            </p:cNvPr>
            <p:cNvSpPr/>
            <p:nvPr/>
          </p:nvSpPr>
          <p:spPr>
            <a:xfrm>
              <a:off x="4738219" y="4266901"/>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0</a:t>
              </a:r>
            </a:p>
          </p:txBody>
        </p:sp>
        <p:sp>
          <p:nvSpPr>
            <p:cNvPr id="136" name="Rectangle 135">
              <a:extLst>
                <a:ext uri="{FF2B5EF4-FFF2-40B4-BE49-F238E27FC236}">
                  <a16:creationId xmlns:a16="http://schemas.microsoft.com/office/drawing/2014/main" id="{DE0DD016-1CC8-B618-BDC7-A5E52934CCA1}"/>
                </a:ext>
              </a:extLst>
            </p:cNvPr>
            <p:cNvSpPr/>
            <p:nvPr/>
          </p:nvSpPr>
          <p:spPr>
            <a:xfrm>
              <a:off x="5727264" y="4266900"/>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37" name="Rectangle 136">
              <a:extLst>
                <a:ext uri="{FF2B5EF4-FFF2-40B4-BE49-F238E27FC236}">
                  <a16:creationId xmlns:a16="http://schemas.microsoft.com/office/drawing/2014/main" id="{A5B1575F-1D22-3A60-7F33-FFC236D0B95E}"/>
                </a:ext>
              </a:extLst>
            </p:cNvPr>
            <p:cNvSpPr/>
            <p:nvPr/>
          </p:nvSpPr>
          <p:spPr>
            <a:xfrm>
              <a:off x="6716309" y="4266899"/>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38" name="Rectangle 137">
              <a:extLst>
                <a:ext uri="{FF2B5EF4-FFF2-40B4-BE49-F238E27FC236}">
                  <a16:creationId xmlns:a16="http://schemas.microsoft.com/office/drawing/2014/main" id="{9F692A7E-4D6D-4972-0E11-DD5304A96531}"/>
                </a:ext>
              </a:extLst>
            </p:cNvPr>
            <p:cNvSpPr/>
            <p:nvPr/>
          </p:nvSpPr>
          <p:spPr>
            <a:xfrm>
              <a:off x="1763314" y="4266892"/>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39" name="Rectangle 138">
              <a:extLst>
                <a:ext uri="{FF2B5EF4-FFF2-40B4-BE49-F238E27FC236}">
                  <a16:creationId xmlns:a16="http://schemas.microsoft.com/office/drawing/2014/main" id="{300042CB-3408-A70B-FF00-C95B054804AC}"/>
                </a:ext>
              </a:extLst>
            </p:cNvPr>
            <p:cNvSpPr/>
            <p:nvPr/>
          </p:nvSpPr>
          <p:spPr>
            <a:xfrm>
              <a:off x="7705354" y="4266894"/>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40" name="Rectangle 139">
              <a:extLst>
                <a:ext uri="{FF2B5EF4-FFF2-40B4-BE49-F238E27FC236}">
                  <a16:creationId xmlns:a16="http://schemas.microsoft.com/office/drawing/2014/main" id="{2E053334-06B4-3F8A-D388-8BA775E14FFB}"/>
                </a:ext>
              </a:extLst>
            </p:cNvPr>
            <p:cNvSpPr/>
            <p:nvPr/>
          </p:nvSpPr>
          <p:spPr>
            <a:xfrm>
              <a:off x="8694399" y="4266894"/>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0</a:t>
              </a:r>
              <a:endParaRPr lang="en-IN" dirty="0"/>
            </a:p>
          </p:txBody>
        </p:sp>
        <p:sp>
          <p:nvSpPr>
            <p:cNvPr id="141" name="Rectangle 140">
              <a:extLst>
                <a:ext uri="{FF2B5EF4-FFF2-40B4-BE49-F238E27FC236}">
                  <a16:creationId xmlns:a16="http://schemas.microsoft.com/office/drawing/2014/main" id="{7BBCBA80-DE78-0C4C-8BC6-0B3A913B6FF2}"/>
                </a:ext>
              </a:extLst>
            </p:cNvPr>
            <p:cNvSpPr/>
            <p:nvPr/>
          </p:nvSpPr>
          <p:spPr>
            <a:xfrm>
              <a:off x="9683444" y="4266892"/>
              <a:ext cx="989045" cy="3172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0</a:t>
              </a:r>
              <a:endParaRPr lang="en-IN" dirty="0"/>
            </a:p>
          </p:txBody>
        </p:sp>
      </p:grpSp>
      <p:sp>
        <p:nvSpPr>
          <p:cNvPr id="143" name="Oval 142">
            <a:extLst>
              <a:ext uri="{FF2B5EF4-FFF2-40B4-BE49-F238E27FC236}">
                <a16:creationId xmlns:a16="http://schemas.microsoft.com/office/drawing/2014/main" id="{D45F20B0-559D-81CE-2C39-757480D13C85}"/>
              </a:ext>
            </a:extLst>
          </p:cNvPr>
          <p:cNvSpPr/>
          <p:nvPr/>
        </p:nvSpPr>
        <p:spPr>
          <a:xfrm>
            <a:off x="10670639" y="5880890"/>
            <a:ext cx="1529667" cy="317247"/>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latin typeface="Times New Roman" panose="02020603050405020304" pitchFamily="18" charset="0"/>
                <a:cs typeface="Times New Roman" panose="02020603050405020304" pitchFamily="18" charset="0"/>
              </a:rPr>
              <a:t>Special token</a:t>
            </a:r>
          </a:p>
        </p:txBody>
      </p:sp>
      <p:sp>
        <p:nvSpPr>
          <p:cNvPr id="144" name="Oval 143">
            <a:extLst>
              <a:ext uri="{FF2B5EF4-FFF2-40B4-BE49-F238E27FC236}">
                <a16:creationId xmlns:a16="http://schemas.microsoft.com/office/drawing/2014/main" id="{B395468D-9FC1-CCD5-84BB-6CBBCA0DD863}"/>
              </a:ext>
            </a:extLst>
          </p:cNvPr>
          <p:cNvSpPr/>
          <p:nvPr/>
        </p:nvSpPr>
        <p:spPr>
          <a:xfrm>
            <a:off x="10650023" y="5416686"/>
            <a:ext cx="1532515" cy="31724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latin typeface="Times New Roman" panose="02020603050405020304" pitchFamily="18" charset="0"/>
                <a:cs typeface="Times New Roman" panose="02020603050405020304" pitchFamily="18" charset="0"/>
              </a:rPr>
              <a:t>Input_ids</a:t>
            </a:r>
          </a:p>
        </p:txBody>
      </p:sp>
      <p:sp>
        <p:nvSpPr>
          <p:cNvPr id="145" name="Oval 144">
            <a:extLst>
              <a:ext uri="{FF2B5EF4-FFF2-40B4-BE49-F238E27FC236}">
                <a16:creationId xmlns:a16="http://schemas.microsoft.com/office/drawing/2014/main" id="{C67174C5-FFE1-EBFB-D7D5-750FFAE722D9}"/>
              </a:ext>
            </a:extLst>
          </p:cNvPr>
          <p:cNvSpPr/>
          <p:nvPr/>
        </p:nvSpPr>
        <p:spPr>
          <a:xfrm>
            <a:off x="10659485" y="4865988"/>
            <a:ext cx="1544977" cy="33219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latin typeface="Times New Roman" panose="02020603050405020304" pitchFamily="18" charset="0"/>
                <a:cs typeface="Times New Roman" panose="02020603050405020304" pitchFamily="18" charset="0"/>
              </a:rPr>
              <a:t>Attention_masks</a:t>
            </a:r>
          </a:p>
        </p:txBody>
      </p:sp>
      <p:sp>
        <p:nvSpPr>
          <p:cNvPr id="146" name="Oval 145">
            <a:extLst>
              <a:ext uri="{FF2B5EF4-FFF2-40B4-BE49-F238E27FC236}">
                <a16:creationId xmlns:a16="http://schemas.microsoft.com/office/drawing/2014/main" id="{65708BFF-DD94-E2AC-1437-F3F096638683}"/>
              </a:ext>
            </a:extLst>
          </p:cNvPr>
          <p:cNvSpPr/>
          <p:nvPr/>
        </p:nvSpPr>
        <p:spPr>
          <a:xfrm>
            <a:off x="10659485" y="4382776"/>
            <a:ext cx="1534208" cy="31724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err="1">
                <a:solidFill>
                  <a:schemeClr val="tx1"/>
                </a:solidFill>
                <a:latin typeface="Times New Roman" panose="02020603050405020304" pitchFamily="18" charset="0"/>
                <a:cs typeface="Times New Roman" panose="02020603050405020304" pitchFamily="18" charset="0"/>
              </a:rPr>
              <a:t>Input_type_ids</a:t>
            </a:r>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152" name="Oval 151">
            <a:extLst>
              <a:ext uri="{FF2B5EF4-FFF2-40B4-BE49-F238E27FC236}">
                <a16:creationId xmlns:a16="http://schemas.microsoft.com/office/drawing/2014/main" id="{2A662563-E14F-6006-1978-72F1543F6F30}"/>
              </a:ext>
            </a:extLst>
          </p:cNvPr>
          <p:cNvSpPr/>
          <p:nvPr/>
        </p:nvSpPr>
        <p:spPr>
          <a:xfrm>
            <a:off x="1816978" y="6210407"/>
            <a:ext cx="576993" cy="35840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rPr>
              <a:t>0</a:t>
            </a:r>
          </a:p>
        </p:txBody>
      </p:sp>
      <p:cxnSp>
        <p:nvCxnSpPr>
          <p:cNvPr id="155" name="Straight Arrow Connector 154">
            <a:extLst>
              <a:ext uri="{FF2B5EF4-FFF2-40B4-BE49-F238E27FC236}">
                <a16:creationId xmlns:a16="http://schemas.microsoft.com/office/drawing/2014/main" id="{8C636708-4D30-7800-AA31-79C753B02A93}"/>
              </a:ext>
            </a:extLst>
          </p:cNvPr>
          <p:cNvCxnSpPr>
            <a:cxnSpLocks/>
          </p:cNvCxnSpPr>
          <p:nvPr/>
        </p:nvCxnSpPr>
        <p:spPr>
          <a:xfrm flipV="1">
            <a:off x="6117272" y="6180755"/>
            <a:ext cx="0" cy="163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BE30BFFB-93B4-4C5E-B0E2-437320B83A07}"/>
              </a:ext>
            </a:extLst>
          </p:cNvPr>
          <p:cNvCxnSpPr>
            <a:cxnSpLocks/>
          </p:cNvCxnSpPr>
          <p:nvPr/>
        </p:nvCxnSpPr>
        <p:spPr>
          <a:xfrm flipV="1">
            <a:off x="6092623" y="5699810"/>
            <a:ext cx="0" cy="163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0" name="Oval 169">
            <a:extLst>
              <a:ext uri="{FF2B5EF4-FFF2-40B4-BE49-F238E27FC236}">
                <a16:creationId xmlns:a16="http://schemas.microsoft.com/office/drawing/2014/main" id="{F257B457-5E12-1F8C-937E-173E272681D5}"/>
              </a:ext>
            </a:extLst>
          </p:cNvPr>
          <p:cNvSpPr/>
          <p:nvPr/>
        </p:nvSpPr>
        <p:spPr>
          <a:xfrm>
            <a:off x="10661177" y="6389608"/>
            <a:ext cx="1521361" cy="317247"/>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latin typeface="Times New Roman" panose="02020603050405020304" pitchFamily="18" charset="0"/>
                <a:cs typeface="Times New Roman" panose="02020603050405020304" pitchFamily="18" charset="0"/>
              </a:rPr>
              <a:t> tokenization</a:t>
            </a:r>
          </a:p>
        </p:txBody>
      </p:sp>
      <p:sp>
        <p:nvSpPr>
          <p:cNvPr id="171" name="Oval 170">
            <a:extLst>
              <a:ext uri="{FF2B5EF4-FFF2-40B4-BE49-F238E27FC236}">
                <a16:creationId xmlns:a16="http://schemas.microsoft.com/office/drawing/2014/main" id="{DE2B7DA3-209C-3A1D-66AE-A6C7A2EB2905}"/>
              </a:ext>
            </a:extLst>
          </p:cNvPr>
          <p:cNvSpPr/>
          <p:nvPr/>
        </p:nvSpPr>
        <p:spPr>
          <a:xfrm>
            <a:off x="2779396" y="6210407"/>
            <a:ext cx="553472" cy="35840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rPr>
              <a:t>1</a:t>
            </a:r>
          </a:p>
        </p:txBody>
      </p:sp>
      <p:sp>
        <p:nvSpPr>
          <p:cNvPr id="172" name="Oval 171">
            <a:extLst>
              <a:ext uri="{FF2B5EF4-FFF2-40B4-BE49-F238E27FC236}">
                <a16:creationId xmlns:a16="http://schemas.microsoft.com/office/drawing/2014/main" id="{DAF2B218-ECA8-2518-6056-0111443067AF}"/>
              </a:ext>
            </a:extLst>
          </p:cNvPr>
          <p:cNvSpPr/>
          <p:nvPr/>
        </p:nvSpPr>
        <p:spPr>
          <a:xfrm>
            <a:off x="3797592" y="6211106"/>
            <a:ext cx="504707" cy="35840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rPr>
              <a:t>2</a:t>
            </a:r>
          </a:p>
        </p:txBody>
      </p:sp>
      <p:cxnSp>
        <p:nvCxnSpPr>
          <p:cNvPr id="176" name="Straight Arrow Connector 175">
            <a:extLst>
              <a:ext uri="{FF2B5EF4-FFF2-40B4-BE49-F238E27FC236}">
                <a16:creationId xmlns:a16="http://schemas.microsoft.com/office/drawing/2014/main" id="{A701CF9E-2F94-CBD3-289E-9D9D332479C1}"/>
              </a:ext>
            </a:extLst>
          </p:cNvPr>
          <p:cNvCxnSpPr>
            <a:cxnSpLocks/>
          </p:cNvCxnSpPr>
          <p:nvPr/>
        </p:nvCxnSpPr>
        <p:spPr>
          <a:xfrm flipV="1">
            <a:off x="6092623" y="5169203"/>
            <a:ext cx="0" cy="163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EDEDCB9A-6B80-CEFB-3692-F5A4BFDBE39E}"/>
              </a:ext>
            </a:extLst>
          </p:cNvPr>
          <p:cNvCxnSpPr>
            <a:cxnSpLocks/>
          </p:cNvCxnSpPr>
          <p:nvPr/>
        </p:nvCxnSpPr>
        <p:spPr>
          <a:xfrm flipV="1">
            <a:off x="6064132" y="4688258"/>
            <a:ext cx="0" cy="163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EA8FEC5C-8D96-B424-3F45-C2780755AE89}"/>
              </a:ext>
            </a:extLst>
          </p:cNvPr>
          <p:cNvSpPr/>
          <p:nvPr/>
        </p:nvSpPr>
        <p:spPr>
          <a:xfrm>
            <a:off x="8770593" y="6218126"/>
            <a:ext cx="504707" cy="35840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rPr>
              <a:t>59</a:t>
            </a:r>
          </a:p>
        </p:txBody>
      </p:sp>
      <p:sp>
        <p:nvSpPr>
          <p:cNvPr id="7" name="Oval 6">
            <a:extLst>
              <a:ext uri="{FF2B5EF4-FFF2-40B4-BE49-F238E27FC236}">
                <a16:creationId xmlns:a16="http://schemas.microsoft.com/office/drawing/2014/main" id="{93988D3B-2442-07AD-7E43-23A8F9A56A76}"/>
              </a:ext>
            </a:extLst>
          </p:cNvPr>
          <p:cNvSpPr/>
          <p:nvPr/>
        </p:nvSpPr>
        <p:spPr>
          <a:xfrm>
            <a:off x="9740292" y="6215876"/>
            <a:ext cx="504707" cy="35840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chemeClr val="tx1"/>
                </a:solidFill>
              </a:rPr>
              <a:t>60</a:t>
            </a:r>
          </a:p>
        </p:txBody>
      </p:sp>
    </p:spTree>
    <p:extLst>
      <p:ext uri="{BB962C8B-B14F-4D97-AF65-F5344CB8AC3E}">
        <p14:creationId xmlns:p14="http://schemas.microsoft.com/office/powerpoint/2010/main" val="2292665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5E1866C7-A826-91E7-CC76-E21069D31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0168" y="105488"/>
            <a:ext cx="6251663" cy="5991176"/>
          </a:xfrm>
          <a:prstGeom prst="rect">
            <a:avLst/>
          </a:prstGeom>
        </p:spPr>
      </p:pic>
      <p:sp>
        <p:nvSpPr>
          <p:cNvPr id="4" name="Rectangle: Rounded Corners 3">
            <a:extLst>
              <a:ext uri="{FF2B5EF4-FFF2-40B4-BE49-F238E27FC236}">
                <a16:creationId xmlns:a16="http://schemas.microsoft.com/office/drawing/2014/main" id="{8F0A8EC1-3B92-615F-82CD-D15F5CDA6A0D}"/>
              </a:ext>
            </a:extLst>
          </p:cNvPr>
          <p:cNvSpPr/>
          <p:nvPr/>
        </p:nvSpPr>
        <p:spPr>
          <a:xfrm>
            <a:off x="2622485" y="6096664"/>
            <a:ext cx="6251663" cy="390525"/>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Architecture of our Proposed Model(ADN-BERT)</a:t>
            </a:r>
          </a:p>
        </p:txBody>
      </p:sp>
    </p:spTree>
    <p:extLst>
      <p:ext uri="{BB962C8B-B14F-4D97-AF65-F5344CB8AC3E}">
        <p14:creationId xmlns:p14="http://schemas.microsoft.com/office/powerpoint/2010/main" val="78274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A7DF-CC51-6302-7A33-A7D6C3574000}"/>
              </a:ext>
            </a:extLst>
          </p:cNvPr>
          <p:cNvSpPr>
            <a:spLocks noGrp="1"/>
          </p:cNvSpPr>
          <p:nvPr>
            <p:ph type="title"/>
          </p:nvPr>
        </p:nvSpPr>
        <p:spPr>
          <a:xfrm>
            <a:off x="903514" y="365125"/>
            <a:ext cx="10515600" cy="1325563"/>
          </a:xfrm>
        </p:spPr>
        <p:txBody>
          <a:bodyPr>
            <a:normAutofit/>
          </a:bodyPr>
          <a:lstStyle/>
          <a:p>
            <a:r>
              <a:rPr lang="en-IN" sz="4000" dirty="0">
                <a:latin typeface="Times New Roman" panose="02020603050405020304" pitchFamily="18" charset="0"/>
                <a:cs typeface="Times New Roman" panose="02020603050405020304" pitchFamily="18" charset="0"/>
              </a:rPr>
              <a:t>Results</a:t>
            </a:r>
          </a:p>
        </p:txBody>
      </p:sp>
      <p:graphicFrame>
        <p:nvGraphicFramePr>
          <p:cNvPr id="4" name="Content Placeholder 3">
            <a:extLst>
              <a:ext uri="{FF2B5EF4-FFF2-40B4-BE49-F238E27FC236}">
                <a16:creationId xmlns:a16="http://schemas.microsoft.com/office/drawing/2014/main" id="{B0004F7F-A171-BB29-10A1-1A7C26B39B0F}"/>
              </a:ext>
            </a:extLst>
          </p:cNvPr>
          <p:cNvGraphicFramePr>
            <a:graphicFrameLocks noGrp="1"/>
          </p:cNvGraphicFramePr>
          <p:nvPr>
            <p:ph idx="1"/>
            <p:extLst>
              <p:ext uri="{D42A27DB-BD31-4B8C-83A1-F6EECF244321}">
                <p14:modId xmlns:p14="http://schemas.microsoft.com/office/powerpoint/2010/main" val="3830676236"/>
              </p:ext>
            </p:extLst>
          </p:nvPr>
        </p:nvGraphicFramePr>
        <p:xfrm>
          <a:off x="810207" y="2231863"/>
          <a:ext cx="10423850" cy="3917009"/>
        </p:xfrm>
        <a:graphic>
          <a:graphicData uri="http://schemas.openxmlformats.org/drawingml/2006/table">
            <a:tbl>
              <a:tblPr firstRow="1" firstCol="1" bandRow="1">
                <a:tableStyleId>{5C22544A-7EE6-4342-B048-85BDC9FD1C3A}</a:tableStyleId>
              </a:tblPr>
              <a:tblGrid>
                <a:gridCol w="3491916">
                  <a:extLst>
                    <a:ext uri="{9D8B030D-6E8A-4147-A177-3AD203B41FA5}">
                      <a16:colId xmlns:a16="http://schemas.microsoft.com/office/drawing/2014/main" val="617460532"/>
                    </a:ext>
                  </a:extLst>
                </a:gridCol>
                <a:gridCol w="1815924">
                  <a:extLst>
                    <a:ext uri="{9D8B030D-6E8A-4147-A177-3AD203B41FA5}">
                      <a16:colId xmlns:a16="http://schemas.microsoft.com/office/drawing/2014/main" val="2381147384"/>
                    </a:ext>
                  </a:extLst>
                </a:gridCol>
                <a:gridCol w="1786692">
                  <a:extLst>
                    <a:ext uri="{9D8B030D-6E8A-4147-A177-3AD203B41FA5}">
                      <a16:colId xmlns:a16="http://schemas.microsoft.com/office/drawing/2014/main" val="3707273815"/>
                    </a:ext>
                  </a:extLst>
                </a:gridCol>
                <a:gridCol w="1626904">
                  <a:extLst>
                    <a:ext uri="{9D8B030D-6E8A-4147-A177-3AD203B41FA5}">
                      <a16:colId xmlns:a16="http://schemas.microsoft.com/office/drawing/2014/main" val="3874865619"/>
                    </a:ext>
                  </a:extLst>
                </a:gridCol>
                <a:gridCol w="1702414">
                  <a:extLst>
                    <a:ext uri="{9D8B030D-6E8A-4147-A177-3AD203B41FA5}">
                      <a16:colId xmlns:a16="http://schemas.microsoft.com/office/drawing/2014/main" val="1255901014"/>
                    </a:ext>
                  </a:extLst>
                </a:gridCol>
              </a:tblGrid>
              <a:tr h="805766">
                <a:tc>
                  <a:txBody>
                    <a:bodyPr/>
                    <a:lstStyle/>
                    <a:p>
                      <a:pPr indent="144145" algn="just"/>
                      <a:r>
                        <a:rPr lang="en-US" sz="1800" dirty="0">
                          <a:effectLst/>
                          <a:latin typeface="Times New Roman" panose="02020603050405020304" pitchFamily="18" charset="0"/>
                          <a:cs typeface="Times New Roman" panose="02020603050405020304" pitchFamily="18" charset="0"/>
                        </a:rPr>
                        <a:t>Model</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800" dirty="0">
                          <a:effectLst/>
                          <a:latin typeface="Times New Roman" panose="02020603050405020304" pitchFamily="18" charset="0"/>
                          <a:cs typeface="Times New Roman" panose="02020603050405020304" pitchFamily="18" charset="0"/>
                        </a:rPr>
                        <a:t>Accuracy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800" dirty="0">
                          <a:effectLst/>
                          <a:latin typeface="Times New Roman" panose="02020603050405020304" pitchFamily="18" charset="0"/>
                          <a:cs typeface="Times New Roman" panose="02020603050405020304" pitchFamily="18" charset="0"/>
                        </a:rPr>
                        <a:t>Precision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800">
                          <a:effectLst/>
                          <a:latin typeface="Times New Roman" panose="02020603050405020304" pitchFamily="18" charset="0"/>
                          <a:cs typeface="Times New Roman" panose="02020603050405020304" pitchFamily="18" charset="0"/>
                        </a:rPr>
                        <a:t>Recall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800" dirty="0">
                          <a:effectLst/>
                          <a:latin typeface="Times New Roman" panose="02020603050405020304" pitchFamily="18" charset="0"/>
                          <a:cs typeface="Times New Roman" panose="02020603050405020304" pitchFamily="18" charset="0"/>
                        </a:rPr>
                        <a:t>F1 Score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51405329"/>
                  </a:ext>
                </a:extLst>
              </a:tr>
              <a:tr h="509258">
                <a:tc>
                  <a:txBody>
                    <a:bodyPr/>
                    <a:lstStyle/>
                    <a:p>
                      <a:pPr indent="144145" algn="just"/>
                      <a:r>
                        <a:rPr lang="en-US" sz="1600" dirty="0">
                          <a:effectLst/>
                          <a:latin typeface="Times New Roman" panose="02020603050405020304" pitchFamily="18" charset="0"/>
                          <a:cs typeface="Times New Roman" panose="02020603050405020304" pitchFamily="18" charset="0"/>
                        </a:rPr>
                        <a:t>Nayak et al.[3]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a:effectLst/>
                          <a:latin typeface="Times New Roman" panose="02020603050405020304" pitchFamily="18" charset="0"/>
                          <a:cs typeface="Times New Roman" panose="02020603050405020304" pitchFamily="18" charset="0"/>
                        </a:rPr>
                        <a:t>89.5%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89.5%</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a:effectLst/>
                          <a:latin typeface="Times New Roman" panose="02020603050405020304" pitchFamily="18" charset="0"/>
                          <a:cs typeface="Times New Roman" panose="02020603050405020304" pitchFamily="18" charset="0"/>
                        </a:rPr>
                        <a:t>90.2%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89.7%</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78806415"/>
                  </a:ext>
                </a:extLst>
              </a:tr>
              <a:tr h="509258">
                <a:tc>
                  <a:txBody>
                    <a:bodyPr/>
                    <a:lstStyle/>
                    <a:p>
                      <a:pPr indent="144145" algn="just"/>
                      <a:r>
                        <a:rPr lang="en-US" sz="1600" dirty="0">
                          <a:effectLst/>
                          <a:latin typeface="Times New Roman" panose="02020603050405020304" pitchFamily="18" charset="0"/>
                          <a:cs typeface="Times New Roman" panose="02020603050405020304" pitchFamily="18" charset="0"/>
                        </a:rPr>
                        <a:t>Sharma et al.[4]</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90.8%</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92%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a:effectLst/>
                          <a:latin typeface="Times New Roman" panose="02020603050405020304" pitchFamily="18" charset="0"/>
                          <a:cs typeface="Times New Roman" panose="02020603050405020304" pitchFamily="18" charset="0"/>
                        </a:rPr>
                        <a:t>91.1%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91.5%</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71100357"/>
                  </a:ext>
                </a:extLst>
              </a:tr>
              <a:tr h="509258">
                <a:tc>
                  <a:txBody>
                    <a:bodyPr/>
                    <a:lstStyle/>
                    <a:p>
                      <a:pPr indent="144145" algn="just"/>
                      <a:r>
                        <a:rPr lang="en-US" sz="1600">
                          <a:effectLst/>
                          <a:latin typeface="Times New Roman" panose="02020603050405020304" pitchFamily="18" charset="0"/>
                          <a:cs typeface="Times New Roman" panose="02020603050405020304" pitchFamily="18" charset="0"/>
                        </a:rPr>
                        <a:t>Sharma et al.[7]</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88.9%</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91.1%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a:effectLst/>
                          <a:latin typeface="Times New Roman" panose="02020603050405020304" pitchFamily="18" charset="0"/>
                          <a:cs typeface="Times New Roman" panose="02020603050405020304" pitchFamily="18" charset="0"/>
                        </a:rPr>
                        <a:t>88.67%</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89.87%</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2287135"/>
                  </a:ext>
                </a:extLst>
              </a:tr>
              <a:tr h="564948">
                <a:tc>
                  <a:txBody>
                    <a:bodyPr/>
                    <a:lstStyle/>
                    <a:p>
                      <a:pPr indent="144145" algn="just"/>
                      <a:r>
                        <a:rPr lang="en-US" sz="1600" dirty="0">
                          <a:effectLst/>
                          <a:latin typeface="Times New Roman" panose="02020603050405020304" pitchFamily="18" charset="0"/>
                          <a:cs typeface="Times New Roman" panose="02020603050405020304" pitchFamily="18" charset="0"/>
                        </a:rPr>
                        <a:t>Shrikhande et al.[8]</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86.13%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85.4%</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86.8%</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dirty="0">
                          <a:effectLst/>
                          <a:latin typeface="Times New Roman" panose="02020603050405020304" pitchFamily="18" charset="0"/>
                          <a:cs typeface="Times New Roman" panose="02020603050405020304" pitchFamily="18" charset="0"/>
                        </a:rPr>
                        <a:t>85.6%</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20680559"/>
                  </a:ext>
                </a:extLst>
              </a:tr>
              <a:tr h="1018521">
                <a:tc>
                  <a:txBody>
                    <a:bodyPr/>
                    <a:lstStyle/>
                    <a:p>
                      <a:pPr indent="144145" algn="just"/>
                      <a:r>
                        <a:rPr lang="en-US" sz="1600" dirty="0">
                          <a:effectLst/>
                          <a:latin typeface="Times New Roman" panose="02020603050405020304" pitchFamily="18" charset="0"/>
                          <a:cs typeface="Times New Roman" panose="02020603050405020304" pitchFamily="18" charset="0"/>
                        </a:rPr>
                        <a:t> </a:t>
                      </a:r>
                      <a:r>
                        <a:rPr lang="en-US" sz="1600" dirty="0">
                          <a:solidFill>
                            <a:schemeClr val="tx1"/>
                          </a:solidFill>
                          <a:effectLst/>
                          <a:latin typeface="Times New Roman" panose="02020603050405020304" pitchFamily="18" charset="0"/>
                          <a:cs typeface="Times New Roman" panose="02020603050405020304" pitchFamily="18" charset="0"/>
                        </a:rPr>
                        <a:t>Proposed Model</a:t>
                      </a:r>
                    </a:p>
                    <a:p>
                      <a:pPr indent="144145" algn="just"/>
                      <a:r>
                        <a:rPr lang="en-US" sz="1600" dirty="0">
                          <a:solidFill>
                            <a:schemeClr val="tx1"/>
                          </a:solidFill>
                          <a:effectLst/>
                          <a:latin typeface="Times New Roman" panose="02020603050405020304" pitchFamily="18" charset="0"/>
                          <a:cs typeface="Times New Roman" panose="02020603050405020304" pitchFamily="18" charset="0"/>
                        </a:rPr>
                        <a:t>  (ADN-BERT) </a:t>
                      </a:r>
                      <a:endParaRPr lang="en-IN"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b="1" dirty="0">
                          <a:solidFill>
                            <a:schemeClr val="tx1"/>
                          </a:solidFill>
                          <a:effectLst/>
                          <a:latin typeface="Times New Roman" panose="02020603050405020304" pitchFamily="18" charset="0"/>
                          <a:cs typeface="Times New Roman" panose="02020603050405020304" pitchFamily="18" charset="0"/>
                        </a:rPr>
                        <a:t>94.1%</a:t>
                      </a:r>
                      <a:endParaRPr lang="en-IN" sz="16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b="1" dirty="0">
                          <a:solidFill>
                            <a:schemeClr val="tx1"/>
                          </a:solidFill>
                          <a:effectLst/>
                          <a:latin typeface="Times New Roman" panose="02020603050405020304" pitchFamily="18" charset="0"/>
                          <a:cs typeface="Times New Roman" panose="02020603050405020304" pitchFamily="18" charset="0"/>
                        </a:rPr>
                        <a:t>94.5%</a:t>
                      </a:r>
                      <a:endParaRPr lang="en-IN" sz="16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b="1">
                          <a:solidFill>
                            <a:schemeClr val="tx1"/>
                          </a:solidFill>
                          <a:effectLst/>
                          <a:latin typeface="Times New Roman" panose="02020603050405020304" pitchFamily="18" charset="0"/>
                          <a:cs typeface="Times New Roman" panose="02020603050405020304" pitchFamily="18" charset="0"/>
                        </a:rPr>
                        <a:t>95.2%</a:t>
                      </a:r>
                      <a:endParaRPr lang="en-IN" sz="16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44145" algn="just"/>
                      <a:r>
                        <a:rPr lang="en-US" sz="1600" b="1" dirty="0">
                          <a:solidFill>
                            <a:schemeClr val="tx1"/>
                          </a:solidFill>
                          <a:effectLst/>
                          <a:latin typeface="Times New Roman" panose="02020603050405020304" pitchFamily="18" charset="0"/>
                          <a:cs typeface="Times New Roman" panose="02020603050405020304" pitchFamily="18" charset="0"/>
                        </a:rPr>
                        <a:t>94.8%</a:t>
                      </a:r>
                      <a:endParaRPr lang="en-IN" sz="16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74187418"/>
                  </a:ext>
                </a:extLst>
              </a:tr>
            </a:tbl>
          </a:graphicData>
        </a:graphic>
      </p:graphicFrame>
    </p:spTree>
    <p:extLst>
      <p:ext uri="{BB962C8B-B14F-4D97-AF65-F5344CB8AC3E}">
        <p14:creationId xmlns:p14="http://schemas.microsoft.com/office/powerpoint/2010/main" val="721485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 line chart&#10;&#10;Description automatically generated">
            <a:extLst>
              <a:ext uri="{FF2B5EF4-FFF2-40B4-BE49-F238E27FC236}">
                <a16:creationId xmlns:a16="http://schemas.microsoft.com/office/drawing/2014/main" id="{0C05E0FA-C9BB-47F2-76BB-5610DF09DE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3346" y="1867223"/>
            <a:ext cx="7204465" cy="3507210"/>
          </a:xfrm>
          <a:prstGeom prst="rect">
            <a:avLst/>
          </a:prstGeom>
          <a:noFill/>
          <a:ln>
            <a:noFill/>
          </a:ln>
        </p:spPr>
      </p:pic>
      <p:pic>
        <p:nvPicPr>
          <p:cNvPr id="5" name="Content Placeholder 4">
            <a:extLst>
              <a:ext uri="{FF2B5EF4-FFF2-40B4-BE49-F238E27FC236}">
                <a16:creationId xmlns:a16="http://schemas.microsoft.com/office/drawing/2014/main" id="{82D258CD-1673-AE70-2793-B2F727002B3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87661" y="1867223"/>
            <a:ext cx="5004339" cy="3507210"/>
          </a:xfrm>
          <a:prstGeom prst="rect">
            <a:avLst/>
          </a:prstGeom>
          <a:noFill/>
          <a:ln>
            <a:noFill/>
          </a:ln>
        </p:spPr>
      </p:pic>
    </p:spTree>
    <p:extLst>
      <p:ext uri="{BB962C8B-B14F-4D97-AF65-F5344CB8AC3E}">
        <p14:creationId xmlns:p14="http://schemas.microsoft.com/office/powerpoint/2010/main" val="1890445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197FD-606C-2AAF-0ED8-FFF3DC12B4A2}"/>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Conclusion and Future Directions</a:t>
            </a:r>
          </a:p>
        </p:txBody>
      </p:sp>
      <p:sp>
        <p:nvSpPr>
          <p:cNvPr id="3" name="Content Placeholder 2">
            <a:extLst>
              <a:ext uri="{FF2B5EF4-FFF2-40B4-BE49-F238E27FC236}">
                <a16:creationId xmlns:a16="http://schemas.microsoft.com/office/drawing/2014/main" id="{E4BAC250-82ED-3DDD-6A65-FD4955B0B620}"/>
              </a:ext>
            </a:extLst>
          </p:cNvPr>
          <p:cNvSpPr>
            <a:spLocks noGrp="1"/>
          </p:cNvSpPr>
          <p:nvPr>
            <p:ph idx="1"/>
          </p:nvPr>
        </p:nvSpPr>
        <p:spPr/>
        <p:txBody>
          <a:bodyPr/>
          <a:lstStyle/>
          <a:p>
            <a:pPr algn="just"/>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our study, the proposed Attention -based deep neural model with BERT embeddings has achieved better results as compared to other recent baseline models in classifying sarcasm sentences with an accuracy of 94%.</a:t>
            </a:r>
          </a:p>
          <a:p>
            <a:pPr algn="just"/>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BERT pre-trained word embedding with the Attention model proved efficient in  dealing with context-based word embeddings, which  resulted in better performances.</a:t>
            </a:r>
          </a:p>
          <a:p>
            <a:pPr algn="just"/>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In the future, more advanced context based deep learning models with optimization techniques can be applied for better results. Also, ensemble technique of context based deep learning models can be considered  for future directions to achieve better accuracy.</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08555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73F7B-BAD1-A1F6-3C12-CFC1C6258257}"/>
              </a:ext>
            </a:extLst>
          </p:cNvPr>
          <p:cNvSpPr>
            <a:spLocks noGrp="1"/>
          </p:cNvSpPr>
          <p:nvPr>
            <p:ph type="title"/>
          </p:nvPr>
        </p:nvSpPr>
        <p:spPr>
          <a:xfrm>
            <a:off x="838200" y="365126"/>
            <a:ext cx="10515600" cy="959822"/>
          </a:xfrm>
        </p:spPr>
        <p:txBody>
          <a:bodyPr>
            <a:normAutofit/>
          </a:bodyPr>
          <a:lstStyle/>
          <a:p>
            <a:r>
              <a:rPr lang="en-IN" sz="40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748F29A9-E40F-1FD0-4F3E-386F813FBDE0}"/>
              </a:ext>
            </a:extLst>
          </p:cNvPr>
          <p:cNvSpPr>
            <a:spLocks noGrp="1"/>
          </p:cNvSpPr>
          <p:nvPr>
            <p:ph idx="1"/>
          </p:nvPr>
        </p:nvSpPr>
        <p:spPr>
          <a:xfrm>
            <a:off x="838200" y="1324948"/>
            <a:ext cx="10515600" cy="5439745"/>
          </a:xfrm>
        </p:spPr>
        <p:txBody>
          <a:bodyPr>
            <a:normAutofit fontScale="77500" lnSpcReduction="20000"/>
          </a:bodyPr>
          <a:lstStyle/>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1.Bharti, Santosh Kumar, Rajeev Kumar Gupta,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Nikhlesh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Pathik, and Ashish Mishra. "Sarcasm Detection in News Headlines using Voted Classification." In Proceedings of the 2022 Fourteenth International Conference on Contemporary Computing,  208-212(2022).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Misra, Rishabh, and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Prahal</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Arora. "Sarcasm detection using hybrid neural network." </a:t>
            </a:r>
            <a:r>
              <a:rPr lang="en-US" sz="1800" i="1" dirty="0" err="1">
                <a:effectLst/>
                <a:latin typeface="Times New Roman" panose="02020603050405020304" pitchFamily="18" charset="0"/>
                <a:ea typeface="Times New Roman" panose="02020603050405020304" pitchFamily="18" charset="0"/>
                <a:cs typeface="Times New Roman" panose="02020603050405020304" pitchFamily="18" charset="0"/>
              </a:rPr>
              <a:t>arXiv</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preprint arXiv:1908.07414</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(2019).</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3. Nayak, Deepak Kumar, and Bharath Kumar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Bolla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"Efficient deep learning methods for sarcasm detection of news headlines." In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Machine Learning and Autonomous Systems: Proceedings of ICMLAS 2021</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pp. 371-382. Singapore: Springer Nature Singapore(2022).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4. Sharma, Dilip Kumar,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Bhuvanesh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Singh, Saurabh Agarwal,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Hyunsung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Kim, and Raj Sharma. "Sarcasm detection over social media platforms using hybrid auto-encoder-based model."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Electronics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11, no. 18,2844(2022).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5. Zanchak, Maria, Victoria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Vysotska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Solomiia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Albota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 Sarcasm Detection in News Headlines Based on Machine Learning Technology." In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2021 IEEE 16th International Conference on Computer Sciences and Information Technologies (CSIT)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vol. 1, pp. 131-137. IEEE(2021).</a:t>
            </a:r>
            <a:endParaRPr lang="en-IN" sz="18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6. Liu,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Hongying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Ling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Xie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"Research on sarcasm detection of news headlines based on Bert-LSTM." In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2021 IEEE international conference on emergency science and information technology (ICESIT)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pp. 89-92. IEEE (2021).</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7. Sharma, Dilip Kumar,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Bhuvanesh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Singh, and Abhishek Garg. "An Ensemble Model for detecting Sarcasm on Social Media." In 2022 9th International Conference on Computing for Sustainable Global Development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INDIACom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pp. 743-748. IEEE(2022).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8. Shrikhande,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Parnavi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Vikram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Setty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Ashish Sahani. "Sarcasm detection in newspaper headlines." In 2020 IEEE 15th international conference on industrial and information systems (ICIIS), pp. 483-487. IEEE(2020).</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9. Ajnadkar, Omkar. "Sarcasm detection of media text using deep neural networks." In Computational Intelligence and Machine Learning: Proceedings of the 7th International Conference on Advanced Computing, Networking, and Informatics (ICACNI 2019), pp. 49-58. Springer Singapore(2021).</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10. Mandal, Paul K., and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Rakeshkumar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Mahto. "Deep CNN-LSTM with word embeddings for news headline sarcasm detection." In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16th International Conference on Information Technology-New Generations (ITNG 2019)</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pp. 495-498. Springer International Publishing( 2019).</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11. Jariwala, Vaishvi Prayag. "Optimal feature extraction -based machine learning approach for sarcasm type detection in news headlines." Int. J.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Comput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Appl 975,p.: 8887 (2020).</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12. Goel, Priya, Rachna Jain, Anand Nayyar, Shruti Singhal, and Muskan Srivastava. "Sarcasm detection using deep learning and ensemble learning." Multimedia Tools and Applications 81, no. 30, pp. 43229-43252(2022).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88079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12DD-4AFF-CF75-CBE5-66FA12F5342F}"/>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659593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6159</TotalTime>
  <Words>1761</Words>
  <Application>Microsoft Office PowerPoint</Application>
  <PresentationFormat>Widescreen</PresentationFormat>
  <Paragraphs>263</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Söhne</vt:lpstr>
      <vt:lpstr>Times New Roman</vt:lpstr>
      <vt:lpstr>Wingdings</vt:lpstr>
      <vt:lpstr>Office Theme</vt:lpstr>
      <vt:lpstr>11th International Conference on Frontiers of Intelligent Computing: Theory and Applications(FICTA-2023) </vt:lpstr>
      <vt:lpstr>CONTENTS</vt:lpstr>
      <vt:lpstr>Sarcasm</vt:lpstr>
      <vt:lpstr>Importance of Sarcasm Classification in News Headlines</vt:lpstr>
      <vt:lpstr>Challenges of Sarcasm detection and Classification task </vt:lpstr>
      <vt:lpstr>Related Works on News Headlines Dataset </vt:lpstr>
      <vt:lpstr>Dataset </vt:lpstr>
      <vt:lpstr>Data Augmentation</vt:lpstr>
      <vt:lpstr>Final Augmented Dataset</vt:lpstr>
      <vt:lpstr>PowerPoint Presentation</vt:lpstr>
      <vt:lpstr>PROPOSED METHODOLOGY</vt:lpstr>
      <vt:lpstr>PowerPoint Presentation</vt:lpstr>
      <vt:lpstr>Hyper-parameters values</vt:lpstr>
      <vt:lpstr>PowerPoint Presentation</vt:lpstr>
      <vt:lpstr>PowerPoint Presentation</vt:lpstr>
      <vt:lpstr>Results</vt:lpstr>
      <vt:lpstr>PowerPoint Presentation</vt:lpstr>
      <vt:lpstr>Conclusion and Future Directions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 Based Deep Network Model using BERT for Sarcasm Classification</dc:title>
  <dc:creator>Pallavi Mishra</dc:creator>
  <cp:lastModifiedBy>Pallavi Mishra</cp:lastModifiedBy>
  <cp:revision>138</cp:revision>
  <dcterms:created xsi:type="dcterms:W3CDTF">2023-03-21T09:25:50Z</dcterms:created>
  <dcterms:modified xsi:type="dcterms:W3CDTF">2024-08-09T05:27:56Z</dcterms:modified>
</cp:coreProperties>
</file>